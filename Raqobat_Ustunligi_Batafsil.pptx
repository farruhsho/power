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A52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0" y="457200"/>
            <a:ext cx="2286000" cy="2286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1828800" cy="18288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58000" y="5029200"/>
            <a:ext cx="1371600" cy="13716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286000"/>
            <a:ext cx="7315200" cy="1371600"/>
          </a:xfrm>
          <a:prstGeom prst="rect">
            <a:avLst/>
          </a:prstGeom>
          <a:noFill/>
        </p:spPr>
        <p:txBody>
          <a:bodyPr wrap="none">
            <a:spAutoFit/>
          </a:bodyPr>
          <a:lstStyle/>
          <a:p>
            <a:pPr algn="ctr">
              <a:defRPr sz="5600" b="1">
                <a:solidFill>
                  <a:srgbClr val="FFFFFF"/>
                </a:solidFill>
              </a:defRPr>
            </a:pPr>
            <a:r>
              <a:t>RAQOBAT USTUNLIGI</a:t>
            </a:r>
          </a:p>
          <a:p>
            <a:pPr algn="ctr">
              <a:defRPr sz="5600" b="1">
                <a:solidFill>
                  <a:srgbClr val="FFFFFF"/>
                </a:solidFill>
              </a:defRPr>
            </a:pPr>
            <a:r>
              <a:t>NAZARIYASI</a:t>
            </a:r>
          </a:p>
        </p:txBody>
      </p:sp>
      <p:sp>
        <p:nvSpPr>
          <p:cNvPr id="7" name="TextBox 6"/>
          <p:cNvSpPr txBox="1"/>
          <p:nvPr/>
        </p:nvSpPr>
        <p:spPr>
          <a:xfrm>
            <a:off x="914400" y="4114800"/>
            <a:ext cx="7315200" cy="731520"/>
          </a:xfrm>
          <a:prstGeom prst="rect">
            <a:avLst/>
          </a:prstGeom>
          <a:noFill/>
        </p:spPr>
        <p:txBody>
          <a:bodyPr wrap="none">
            <a:spAutoFit/>
          </a:bodyPr>
          <a:lstStyle/>
          <a:p>
            <a:pPr algn="ctr">
              <a:defRPr sz="2800">
                <a:solidFill>
                  <a:srgbClr val="E6E6E6"/>
                </a:solidFill>
              </a:defRPr>
            </a:pPr>
            <a:r>
              <a:t>Biznes strategiyasi va muvaffaqiyat yo'llari</a:t>
            </a:r>
          </a:p>
        </p:txBody>
      </p:sp>
      <p:sp>
        <p:nvSpPr>
          <p:cNvPr id="8" name="TextBox 7"/>
          <p:cNvSpPr txBox="1"/>
          <p:nvPr/>
        </p:nvSpPr>
        <p:spPr>
          <a:xfrm>
            <a:off x="3840480" y="5029200"/>
            <a:ext cx="1463040" cy="914400"/>
          </a:xfrm>
          <a:prstGeom prst="rect">
            <a:avLst/>
          </a:prstGeom>
          <a:noFill/>
        </p:spPr>
        <p:txBody>
          <a:bodyPr wrap="none">
            <a:spAutoFit/>
          </a:bodyPr>
          <a:lstStyle/>
          <a:p>
            <a:pPr algn="ctr">
              <a:defRPr sz="7200"/>
            </a:pPr>
            <a: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822960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94360"/>
            <a:ext cx="7315200" cy="548640"/>
          </a:xfrm>
          <a:prstGeom prst="rect">
            <a:avLst/>
          </a:prstGeom>
          <a:noFill/>
        </p:spPr>
        <p:txBody>
          <a:bodyPr wrap="none">
            <a:spAutoFit/>
          </a:bodyPr>
          <a:lstStyle/>
          <a:p>
            <a:pPr algn="ctr">
              <a:defRPr sz="3200" b="1">
                <a:solidFill>
                  <a:srgbClr val="2980B9"/>
                </a:solidFill>
              </a:defRPr>
            </a:pPr>
            <a:r>
              <a:t>Raqobat ustunligi nima?</a:t>
            </a:r>
          </a:p>
        </p:txBody>
      </p:sp>
      <p:sp>
        <p:nvSpPr>
          <p:cNvPr id="5" name="Rounded Rectangle 4"/>
          <p:cNvSpPr/>
          <p:nvPr/>
        </p:nvSpPr>
        <p:spPr>
          <a:xfrm>
            <a:off x="731520" y="1645920"/>
            <a:ext cx="768096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28800"/>
            <a:ext cx="6949440" cy="1463040"/>
          </a:xfrm>
          <a:prstGeom prst="rect">
            <a:avLst/>
          </a:prstGeom>
          <a:noFill/>
        </p:spPr>
        <p:txBody>
          <a:bodyPr wrap="square">
            <a:spAutoFit/>
          </a:bodyPr>
          <a:lstStyle/>
          <a:p>
            <a:pPr>
              <a:lnSpc>
                <a:spcPct val="130000"/>
              </a:lnSpc>
              <a:defRPr sz="1800">
                <a:solidFill>
                  <a:srgbClr val="2C3E50"/>
                </a:solidFill>
              </a:defRPr>
            </a:pPr>
            <a:r>
              <a:t>Raqobat ustunligi - bu kompaniyaning o'z raqobatchilaridan ajralib turadigan va unga bozorda yetakchi o'rinni egallash imkonini beradigan xususiyatlar, strategiyalar va resurslar majmuidir.</a:t>
            </a:r>
          </a:p>
        </p:txBody>
      </p:sp>
      <p:sp>
        <p:nvSpPr>
          <p:cNvPr id="7" name="Rounded Rectangle 6"/>
          <p:cNvSpPr/>
          <p:nvPr/>
        </p:nvSpPr>
        <p:spPr>
          <a:xfrm>
            <a:off x="731520" y="3749039"/>
            <a:ext cx="7680960" cy="457200"/>
          </a:xfrm>
          <a:prstGeom prst="roundRect">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840480"/>
            <a:ext cx="7315200" cy="274320"/>
          </a:xfrm>
          <a:prstGeom prst="rect">
            <a:avLst/>
          </a:prstGeom>
          <a:noFill/>
        </p:spPr>
        <p:txBody>
          <a:bodyPr wrap="none">
            <a:spAutoFit/>
          </a:bodyPr>
          <a:lstStyle/>
          <a:p>
            <a:pPr>
              <a:defRPr sz="2000" b="1">
                <a:solidFill>
                  <a:srgbClr val="FFFFFF"/>
                </a:solidFill>
              </a:defRPr>
            </a:pPr>
            <a:r>
              <a:t>📚 TUSHUNTIRISH:</a:t>
            </a:r>
          </a:p>
        </p:txBody>
      </p:sp>
      <p:sp>
        <p:nvSpPr>
          <p:cNvPr id="9" name="Rounded Rectangle 8"/>
          <p:cNvSpPr/>
          <p:nvPr/>
        </p:nvSpPr>
        <p:spPr>
          <a:xfrm>
            <a:off x="731520" y="4297680"/>
            <a:ext cx="7680960" cy="1645920"/>
          </a:xfrm>
          <a:prstGeom prst="roundRect">
            <a:avLst/>
          </a:prstGeom>
          <a:solidFill>
            <a:srgbClr val="FFFFFF"/>
          </a:solidFill>
          <a:ln w="3810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480560"/>
            <a:ext cx="6949440" cy="1280160"/>
          </a:xfrm>
          <a:prstGeom prst="rect">
            <a:avLst/>
          </a:prstGeom>
          <a:noFill/>
        </p:spPr>
        <p:txBody>
          <a:bodyPr wrap="square">
            <a:spAutoFit/>
          </a:bodyPr>
          <a:lstStyle/>
          <a:p>
            <a:pPr>
              <a:lnSpc>
                <a:spcPct val="120000"/>
              </a:lnSpc>
              <a:defRPr sz="1600">
                <a:solidFill>
                  <a:srgbClr val="34495E"/>
                </a:solidFill>
              </a:defRPr>
            </a:pPr>
            <a:r>
              <a:t>Bu nafaqat mahsulot yoki xizmatning sifati, balki kompaniyaning umumiy strategiyasi, brendi, innovatsiyalari, xodimlarining malakasi va boshqa ko'plab omillarni o'z ichiga oladi. Raqobat ustunligi uzoq muddatli muvaffaqiyat va barqaror o'sishning kalitidir.</a:t>
            </a:r>
          </a:p>
        </p:txBody>
      </p:sp>
      <p:sp>
        <p:nvSpPr>
          <p:cNvPr id="11" name="TextBox 10"/>
          <p:cNvSpPr txBox="1"/>
          <p:nvPr/>
        </p:nvSpPr>
        <p:spPr>
          <a:xfrm>
            <a:off x="7772400" y="1097280"/>
            <a:ext cx="914400" cy="731520"/>
          </a:xfrm>
          <a:prstGeom prst="rect">
            <a:avLst/>
          </a:prstGeom>
          <a:noFill/>
        </p:spPr>
        <p:txBody>
          <a:bodyPr wrap="none">
            <a:spAutoFit/>
          </a:bodyPr>
          <a:lstStyle/>
          <a:p>
            <a:pPr>
              <a:defRPr sz="4800"/>
            </a:pP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822960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94360"/>
            <a:ext cx="7315200" cy="548640"/>
          </a:xfrm>
          <a:prstGeom prst="rect">
            <a:avLst/>
          </a:prstGeom>
          <a:noFill/>
        </p:spPr>
        <p:txBody>
          <a:bodyPr wrap="none">
            <a:spAutoFit/>
          </a:bodyPr>
          <a:lstStyle/>
          <a:p>
            <a:pPr algn="ctr">
              <a:defRPr sz="3200" b="1">
                <a:solidFill>
                  <a:srgbClr val="8E44AD"/>
                </a:solidFill>
              </a:defRPr>
            </a:pPr>
            <a:r>
              <a:t>Nima uchun bu muhim?</a:t>
            </a:r>
          </a:p>
        </p:txBody>
      </p:sp>
      <p:sp>
        <p:nvSpPr>
          <p:cNvPr id="5" name="Rounded Rectangle 4"/>
          <p:cNvSpPr/>
          <p:nvPr/>
        </p:nvSpPr>
        <p:spPr>
          <a:xfrm>
            <a:off x="731520" y="1645920"/>
            <a:ext cx="768096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28800"/>
            <a:ext cx="6949440" cy="1463040"/>
          </a:xfrm>
          <a:prstGeom prst="rect">
            <a:avLst/>
          </a:prstGeom>
          <a:noFill/>
        </p:spPr>
        <p:txBody>
          <a:bodyPr wrap="square">
            <a:spAutoFit/>
          </a:bodyPr>
          <a:lstStyle/>
          <a:p>
            <a:pPr>
              <a:lnSpc>
                <a:spcPct val="130000"/>
              </a:lnSpc>
              <a:defRPr sz="1800">
                <a:solidFill>
                  <a:srgbClr val="2C3E50"/>
                </a:solidFill>
              </a:defRPr>
            </a:pPr>
            <a:r>
              <a:t>Zamonaviy bozorda raqobat tobora kuchayib bormoqda. Har bir sohada yuzlab kompaniyalar bir xil mijozlar uchun kurashmoqda. Raqobat ustunligi - bu kompaniyaning omon qolishi va rivojlanishi uchun zarur shart.</a:t>
            </a:r>
          </a:p>
        </p:txBody>
      </p:sp>
      <p:sp>
        <p:nvSpPr>
          <p:cNvPr id="7" name="Rounded Rectangle 6"/>
          <p:cNvSpPr/>
          <p:nvPr/>
        </p:nvSpPr>
        <p:spPr>
          <a:xfrm>
            <a:off x="731520" y="3749039"/>
            <a:ext cx="7680960" cy="457200"/>
          </a:xfrm>
          <a:prstGeom prst="roundRect">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840480"/>
            <a:ext cx="7315200" cy="274320"/>
          </a:xfrm>
          <a:prstGeom prst="rect">
            <a:avLst/>
          </a:prstGeom>
          <a:noFill/>
        </p:spPr>
        <p:txBody>
          <a:bodyPr wrap="none">
            <a:spAutoFit/>
          </a:bodyPr>
          <a:lstStyle/>
          <a:p>
            <a:pPr>
              <a:defRPr sz="2000" b="1">
                <a:solidFill>
                  <a:srgbClr val="FFFFFF"/>
                </a:solidFill>
              </a:defRPr>
            </a:pPr>
            <a:r>
              <a:t>📚 TUSHUNTIRISH:</a:t>
            </a:r>
          </a:p>
        </p:txBody>
      </p:sp>
      <p:sp>
        <p:nvSpPr>
          <p:cNvPr id="9" name="Rounded Rectangle 8"/>
          <p:cNvSpPr/>
          <p:nvPr/>
        </p:nvSpPr>
        <p:spPr>
          <a:xfrm>
            <a:off x="731520" y="4297680"/>
            <a:ext cx="7680960" cy="1645920"/>
          </a:xfrm>
          <a:prstGeom prst="roundRect">
            <a:avLst/>
          </a:prstGeom>
          <a:solidFill>
            <a:srgbClr val="FFFFFF"/>
          </a:solidFill>
          <a:ln w="3810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480560"/>
            <a:ext cx="6949440" cy="1280160"/>
          </a:xfrm>
          <a:prstGeom prst="rect">
            <a:avLst/>
          </a:prstGeom>
          <a:noFill/>
        </p:spPr>
        <p:txBody>
          <a:bodyPr wrap="square">
            <a:spAutoFit/>
          </a:bodyPr>
          <a:lstStyle/>
          <a:p>
            <a:pPr>
              <a:lnSpc>
                <a:spcPct val="120000"/>
              </a:lnSpc>
              <a:defRPr sz="1600">
                <a:solidFill>
                  <a:srgbClr val="34495E"/>
                </a:solidFill>
              </a:defRPr>
            </a:pPr>
            <a:r>
              <a:t>Raqobat ustunligiga ega kompaniyalar yuqori foyda oladi, bozor ulushini oshiradi, kuchli brend yaratadi va barqaror biznes modelini quradi. Bu nafaqat bugungi kun, balki kelajak uchun ham investitsiya hisoblanadi.</a:t>
            </a:r>
          </a:p>
        </p:txBody>
      </p:sp>
      <p:sp>
        <p:nvSpPr>
          <p:cNvPr id="11" name="TextBox 10"/>
          <p:cNvSpPr txBox="1"/>
          <p:nvPr/>
        </p:nvSpPr>
        <p:spPr>
          <a:xfrm>
            <a:off x="7772400" y="1097280"/>
            <a:ext cx="914400" cy="731520"/>
          </a:xfrm>
          <a:prstGeom prst="rect">
            <a:avLst/>
          </a:prstGeom>
          <a:noFill/>
        </p:spPr>
        <p:txBody>
          <a:bodyPr wrap="none">
            <a:spAutoFit/>
          </a:bodyPr>
          <a:lstStyle/>
          <a:p>
            <a:pPr>
              <a:defRPr sz="4800"/>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822960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94360"/>
            <a:ext cx="7315200" cy="548640"/>
          </a:xfrm>
          <a:prstGeom prst="rect">
            <a:avLst/>
          </a:prstGeom>
          <a:noFill/>
        </p:spPr>
        <p:txBody>
          <a:bodyPr wrap="none">
            <a:spAutoFit/>
          </a:bodyPr>
          <a:lstStyle/>
          <a:p>
            <a:pPr algn="ctr">
              <a:defRPr sz="3200" b="1">
                <a:solidFill>
                  <a:srgbClr val="34495E"/>
                </a:solidFill>
              </a:defRPr>
            </a:pPr>
            <a:r>
              <a:t>Michael Porter - raqobat strategiyasi ustasi</a:t>
            </a:r>
          </a:p>
        </p:txBody>
      </p:sp>
      <p:sp>
        <p:nvSpPr>
          <p:cNvPr id="5" name="Rounded Rectangle 4"/>
          <p:cNvSpPr/>
          <p:nvPr/>
        </p:nvSpPr>
        <p:spPr>
          <a:xfrm>
            <a:off x="731520" y="1645920"/>
            <a:ext cx="768096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28800"/>
            <a:ext cx="6949440" cy="1463040"/>
          </a:xfrm>
          <a:prstGeom prst="rect">
            <a:avLst/>
          </a:prstGeom>
          <a:noFill/>
        </p:spPr>
        <p:txBody>
          <a:bodyPr wrap="square">
            <a:spAutoFit/>
          </a:bodyPr>
          <a:lstStyle/>
          <a:p>
            <a:pPr>
              <a:lnSpc>
                <a:spcPct val="130000"/>
              </a:lnSpc>
              <a:defRPr sz="1800">
                <a:solidFill>
                  <a:srgbClr val="2C3E50"/>
                </a:solidFill>
              </a:defRPr>
            </a:pPr>
            <a:r>
              <a:t>Michael Porter - Harvard biznes maktabining professori, raqobat strategiyasi sohasining asoschisi. U 1980-yilda o'zining mashhur nazariyalarini ishlab chiqdi va biznes dunyosini butunlay o'zgartirdi.</a:t>
            </a:r>
          </a:p>
        </p:txBody>
      </p:sp>
      <p:sp>
        <p:nvSpPr>
          <p:cNvPr id="7" name="Rounded Rectangle 6"/>
          <p:cNvSpPr/>
          <p:nvPr/>
        </p:nvSpPr>
        <p:spPr>
          <a:xfrm>
            <a:off x="731520" y="3749039"/>
            <a:ext cx="7680960" cy="457200"/>
          </a:xfrm>
          <a:prstGeom prst="roundRect">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840480"/>
            <a:ext cx="7315200" cy="274320"/>
          </a:xfrm>
          <a:prstGeom prst="rect">
            <a:avLst/>
          </a:prstGeom>
          <a:noFill/>
        </p:spPr>
        <p:txBody>
          <a:bodyPr wrap="none">
            <a:spAutoFit/>
          </a:bodyPr>
          <a:lstStyle/>
          <a:p>
            <a:pPr>
              <a:defRPr sz="2000" b="1">
                <a:solidFill>
                  <a:srgbClr val="FFFFFF"/>
                </a:solidFill>
              </a:defRPr>
            </a:pPr>
            <a:r>
              <a:t>📚 TUSHUNTIRISH:</a:t>
            </a:r>
          </a:p>
        </p:txBody>
      </p:sp>
      <p:sp>
        <p:nvSpPr>
          <p:cNvPr id="9" name="Rounded Rectangle 8"/>
          <p:cNvSpPr/>
          <p:nvPr/>
        </p:nvSpPr>
        <p:spPr>
          <a:xfrm>
            <a:off x="731520" y="4297680"/>
            <a:ext cx="7680960" cy="1645920"/>
          </a:xfrm>
          <a:prstGeom prst="roundRect">
            <a:avLst/>
          </a:prstGeom>
          <a:solidFill>
            <a:srgbClr val="FFFFFF"/>
          </a:solidFill>
          <a:ln w="3810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480560"/>
            <a:ext cx="6949440" cy="1280160"/>
          </a:xfrm>
          <a:prstGeom prst="rect">
            <a:avLst/>
          </a:prstGeom>
          <a:noFill/>
        </p:spPr>
        <p:txBody>
          <a:bodyPr wrap="square">
            <a:spAutoFit/>
          </a:bodyPr>
          <a:lstStyle/>
          <a:p>
            <a:pPr>
              <a:lnSpc>
                <a:spcPct val="120000"/>
              </a:lnSpc>
              <a:defRPr sz="1600">
                <a:solidFill>
                  <a:srgbClr val="34495E"/>
                </a:solidFill>
              </a:defRPr>
            </a:pPr>
            <a:r>
              <a:t>Porter'ning asosiy g'oyasi - raqobat strategiyasi bu boshqacha bo'lish demakdir. Kompaniya hammaga o'xshab ketmasligi, o'zining noyob yo'lini topishi va qiymat yaratishda alohida yondashuvga ega bo'lishi kerak.</a:t>
            </a:r>
          </a:p>
        </p:txBody>
      </p:sp>
      <p:sp>
        <p:nvSpPr>
          <p:cNvPr id="11" name="TextBox 10"/>
          <p:cNvSpPr txBox="1"/>
          <p:nvPr/>
        </p:nvSpPr>
        <p:spPr>
          <a:xfrm>
            <a:off x="7772400" y="1097280"/>
            <a:ext cx="914400" cy="731520"/>
          </a:xfrm>
          <a:prstGeom prst="rect">
            <a:avLst/>
          </a:prstGeom>
          <a:noFill/>
        </p:spPr>
        <p:txBody>
          <a:bodyPr wrap="none">
            <a:spAutoFit/>
          </a:bodyPr>
          <a:lstStyle/>
          <a:p>
            <a:pPr>
              <a:defRPr sz="4800"/>
            </a:pP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822960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94360"/>
            <a:ext cx="7315200" cy="548640"/>
          </a:xfrm>
          <a:prstGeom prst="rect">
            <a:avLst/>
          </a:prstGeom>
          <a:noFill/>
        </p:spPr>
        <p:txBody>
          <a:bodyPr wrap="none">
            <a:spAutoFit/>
          </a:bodyPr>
          <a:lstStyle/>
          <a:p>
            <a:pPr algn="ctr">
              <a:defRPr sz="3200" b="1">
                <a:solidFill>
                  <a:srgbClr val="E74C3C"/>
                </a:solidFill>
              </a:defRPr>
            </a:pPr>
            <a:r>
              <a:t>Porter'ning 3 asosiy strategiyasi</a:t>
            </a:r>
          </a:p>
        </p:txBody>
      </p:sp>
      <p:sp>
        <p:nvSpPr>
          <p:cNvPr id="5" name="Rounded Rectangle 4"/>
          <p:cNvSpPr/>
          <p:nvPr/>
        </p:nvSpPr>
        <p:spPr>
          <a:xfrm>
            <a:off x="731520" y="1645920"/>
            <a:ext cx="768096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28800"/>
            <a:ext cx="6949440" cy="1463040"/>
          </a:xfrm>
          <a:prstGeom prst="rect">
            <a:avLst/>
          </a:prstGeom>
          <a:noFill/>
        </p:spPr>
        <p:txBody>
          <a:bodyPr wrap="square">
            <a:spAutoFit/>
          </a:bodyPr>
          <a:lstStyle/>
          <a:p>
            <a:pPr>
              <a:lnSpc>
                <a:spcPct val="130000"/>
              </a:lnSpc>
              <a:defRPr sz="1800">
                <a:solidFill>
                  <a:srgbClr val="2C3E50"/>
                </a:solidFill>
              </a:defRPr>
            </a:pPr>
            <a:r>
              <a:t>Michael Porter uchta asosiy raqobat strategiyasini aniqlagan: 1) Xarajatlarni kamaytirish (Cost Leadership), 2) Differensiatsiya (Differentiation), 3) Fokuslanish (Focus). Har bir strategiya o'ziga xos yondashuvni talab qiladi.</a:t>
            </a:r>
          </a:p>
        </p:txBody>
      </p:sp>
      <p:sp>
        <p:nvSpPr>
          <p:cNvPr id="7" name="Rounded Rectangle 6"/>
          <p:cNvSpPr/>
          <p:nvPr/>
        </p:nvSpPr>
        <p:spPr>
          <a:xfrm>
            <a:off x="731520" y="3749039"/>
            <a:ext cx="7680960" cy="457200"/>
          </a:xfrm>
          <a:prstGeom prst="roundRect">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840480"/>
            <a:ext cx="7315200" cy="274320"/>
          </a:xfrm>
          <a:prstGeom prst="rect">
            <a:avLst/>
          </a:prstGeom>
          <a:noFill/>
        </p:spPr>
        <p:txBody>
          <a:bodyPr wrap="none">
            <a:spAutoFit/>
          </a:bodyPr>
          <a:lstStyle/>
          <a:p>
            <a:pPr>
              <a:defRPr sz="2000" b="1">
                <a:solidFill>
                  <a:srgbClr val="FFFFFF"/>
                </a:solidFill>
              </a:defRPr>
            </a:pPr>
            <a:r>
              <a:t>📚 TUSHUNTIRISH:</a:t>
            </a:r>
          </a:p>
        </p:txBody>
      </p:sp>
      <p:sp>
        <p:nvSpPr>
          <p:cNvPr id="9" name="Rounded Rectangle 8"/>
          <p:cNvSpPr/>
          <p:nvPr/>
        </p:nvSpPr>
        <p:spPr>
          <a:xfrm>
            <a:off x="731520" y="4297680"/>
            <a:ext cx="7680960" cy="1645920"/>
          </a:xfrm>
          <a:prstGeom prst="roundRect">
            <a:avLst/>
          </a:prstGeom>
          <a:solidFill>
            <a:srgbClr val="FFFFFF"/>
          </a:solidFill>
          <a:ln w="3810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480560"/>
            <a:ext cx="6949440" cy="1280160"/>
          </a:xfrm>
          <a:prstGeom prst="rect">
            <a:avLst/>
          </a:prstGeom>
          <a:noFill/>
        </p:spPr>
        <p:txBody>
          <a:bodyPr wrap="square">
            <a:spAutoFit/>
          </a:bodyPr>
          <a:lstStyle/>
          <a:p>
            <a:pPr>
              <a:lnSpc>
                <a:spcPct val="120000"/>
              </a:lnSpc>
              <a:defRPr sz="1600">
                <a:solidFill>
                  <a:srgbClr val="34495E"/>
                </a:solidFill>
              </a:defRPr>
            </a:pPr>
            <a:r>
              <a:t>Bu strategiyalar har qanday biznes uchun asos bo'lib xizmat qiladi. Kompaniya ulardan birini tanlashi va barcha resurslarini shu yo'nalishda to'plashi kerak. Bir vaqtning o'zida bir nechta strategiyani amalga oshirishga urinish muvaffaqiyatsizlikka olib keladi.</a:t>
            </a:r>
          </a:p>
        </p:txBody>
      </p:sp>
      <p:sp>
        <p:nvSpPr>
          <p:cNvPr id="11" name="TextBox 10"/>
          <p:cNvSpPr txBox="1"/>
          <p:nvPr/>
        </p:nvSpPr>
        <p:spPr>
          <a:xfrm>
            <a:off x="7772400" y="1097280"/>
            <a:ext cx="914400" cy="731520"/>
          </a:xfrm>
          <a:prstGeom prst="rect">
            <a:avLst/>
          </a:prstGeom>
          <a:noFill/>
        </p:spPr>
        <p:txBody>
          <a:bodyPr wrap="none">
            <a:spAutoFit/>
          </a:bodyPr>
          <a:lstStyle/>
          <a:p>
            <a:pPr>
              <a:defRPr sz="4800"/>
            </a:pP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548640"/>
          </a:xfrm>
          <a:prstGeom prst="rect">
            <a:avLst/>
          </a:prstGeom>
          <a:noFill/>
        </p:spPr>
        <p:txBody>
          <a:bodyPr wrap="none">
            <a:spAutoFit/>
          </a:bodyPr>
          <a:lstStyle/>
          <a:p>
            <a:pPr algn="ctr">
              <a:defRPr sz="3200" b="1">
                <a:solidFill>
                  <a:srgbClr val="FFFFFF"/>
                </a:solidFill>
              </a:defRPr>
            </a:pPr>
            <a:r>
              <a:t>1-STRATEGIYA: XARAJATLARNI KAMAYTIRISH</a:t>
            </a:r>
          </a:p>
        </p:txBody>
      </p:sp>
      <p:sp>
        <p:nvSpPr>
          <p:cNvPr id="4" name="Rounded Rectangle 3"/>
          <p:cNvSpPr/>
          <p:nvPr/>
        </p:nvSpPr>
        <p:spPr>
          <a:xfrm>
            <a:off x="914400" y="1097280"/>
            <a:ext cx="7315200" cy="548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234440"/>
            <a:ext cx="6949440" cy="320040"/>
          </a:xfrm>
          <a:prstGeom prst="rect">
            <a:avLst/>
          </a:prstGeom>
          <a:noFill/>
        </p:spPr>
        <p:txBody>
          <a:bodyPr wrap="none">
            <a:spAutoFit/>
          </a:bodyPr>
          <a:lstStyle/>
          <a:p>
            <a:pPr algn="ctr">
              <a:defRPr sz="2200" b="1">
                <a:solidFill>
                  <a:srgbClr val="3498DB"/>
                </a:solidFill>
              </a:defRPr>
            </a:pPr>
            <a:r>
              <a:t>💰 COST LEADERSHIP (Xarajat liderlik)</a:t>
            </a:r>
          </a:p>
        </p:txBody>
      </p:sp>
      <p:sp>
        <p:nvSpPr>
          <p:cNvPr id="6" name="Rounded Rectangle 5"/>
          <p:cNvSpPr/>
          <p:nvPr/>
        </p:nvSpPr>
        <p:spPr>
          <a:xfrm>
            <a:off x="914400" y="1828800"/>
            <a:ext cx="7315200" cy="822960"/>
          </a:xfrm>
          <a:prstGeom prst="roundRect">
            <a:avLst/>
          </a:prstGeom>
          <a:solidFill>
            <a:srgbClr val="FFFFFF"/>
          </a:solidFill>
          <a:ln w="3810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965960"/>
            <a:ext cx="6766560" cy="548640"/>
          </a:xfrm>
          <a:prstGeom prst="rect">
            <a:avLst/>
          </a:prstGeom>
          <a:noFill/>
        </p:spPr>
        <p:txBody>
          <a:bodyPr wrap="square">
            <a:spAutoFit/>
          </a:bodyPr>
          <a:lstStyle/>
          <a:p>
            <a:pPr>
              <a:defRPr sz="1500">
                <a:solidFill>
                  <a:srgbClr val="2C3E50"/>
                </a:solidFill>
              </a:defRPr>
            </a:pPr>
            <a:r>
              <a:t>Bu strategiya kompaniyaga bozorda eng past narxlarni taklif qilish orqali ustunlik qozonishga qaratilgan. Maqsad - ishlab chiqarish va operatsion xarajatlarni maksimal darajada kamaytirish.</a:t>
            </a:r>
          </a:p>
        </p:txBody>
      </p:sp>
      <p:sp>
        <p:nvSpPr>
          <p:cNvPr id="8" name="Rounded Rectangle 7"/>
          <p:cNvSpPr/>
          <p:nvPr/>
        </p:nvSpPr>
        <p:spPr>
          <a:xfrm>
            <a:off x="640080" y="2926080"/>
            <a:ext cx="3931920" cy="2286000"/>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08960"/>
            <a:ext cx="3383280" cy="274320"/>
          </a:xfrm>
          <a:prstGeom prst="rect">
            <a:avLst/>
          </a:prstGeom>
          <a:noFill/>
        </p:spPr>
        <p:txBody>
          <a:bodyPr wrap="none">
            <a:spAutoFit/>
          </a:bodyPr>
          <a:lstStyle/>
          <a:p>
            <a:pPr>
              <a:defRPr sz="1800" b="1">
                <a:solidFill>
                  <a:srgbClr val="FFFFFF"/>
                </a:solidFill>
              </a:defRPr>
            </a:pPr>
            <a:r>
              <a:t>✅ AFZALLIKLAR:</a:t>
            </a:r>
          </a:p>
        </p:txBody>
      </p:sp>
      <p:sp>
        <p:nvSpPr>
          <p:cNvPr id="10" name="TextBox 9"/>
          <p:cNvSpPr txBox="1"/>
          <p:nvPr/>
        </p:nvSpPr>
        <p:spPr>
          <a:xfrm>
            <a:off x="914400" y="3474720"/>
            <a:ext cx="3383280" cy="1554480"/>
          </a:xfrm>
          <a:prstGeom prst="rect">
            <a:avLst/>
          </a:prstGeom>
          <a:noFill/>
        </p:spPr>
        <p:txBody>
          <a:bodyPr wrap="square">
            <a:spAutoFit/>
          </a:bodyPr>
          <a:lstStyle/>
          <a:p>
            <a:pPr>
              <a:spcAft>
                <a:spcPts val="400"/>
              </a:spcAft>
              <a:defRPr sz="1400">
                <a:solidFill>
                  <a:srgbClr val="FFFFFF"/>
                </a:solidFill>
              </a:defRPr>
            </a:pPr>
            <a:r>
              <a:t>• Katta bozor ulushini egallash</a:t>
            </a:r>
          </a:p>
          <a:p>
            <a:pPr>
              <a:spcAft>
                <a:spcPts val="400"/>
              </a:spcAft>
              <a:defRPr sz="1400">
                <a:solidFill>
                  <a:srgbClr val="FFFFFF"/>
                </a:solidFill>
              </a:defRPr>
            </a:pPr>
            <a:r>
              <a:t>• Ommaviy mijozlarga xizmat</a:t>
            </a:r>
          </a:p>
          <a:p>
            <a:pPr>
              <a:spcAft>
                <a:spcPts val="400"/>
              </a:spcAft>
              <a:defRPr sz="1400">
                <a:solidFill>
                  <a:srgbClr val="FFFFFF"/>
                </a:solidFill>
              </a:defRPr>
            </a:pPr>
            <a:r>
              <a:t>• Narx bo'yicha kuchli raqobat</a:t>
            </a:r>
          </a:p>
          <a:p>
            <a:pPr>
              <a:spcAft>
                <a:spcPts val="400"/>
              </a:spcAft>
              <a:defRPr sz="1400">
                <a:solidFill>
                  <a:srgbClr val="FFFFFF"/>
                </a:solidFill>
              </a:defRPr>
            </a:pPr>
            <a:r>
              <a:t>• Operatsion samaradorlik</a:t>
            </a:r>
          </a:p>
        </p:txBody>
      </p:sp>
      <p:sp>
        <p:nvSpPr>
          <p:cNvPr id="11" name="Rounded Rectangle 10"/>
          <p:cNvSpPr/>
          <p:nvPr/>
        </p:nvSpPr>
        <p:spPr>
          <a:xfrm>
            <a:off x="4846320" y="2926080"/>
            <a:ext cx="3931920" cy="228600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3108960"/>
            <a:ext cx="3383280" cy="274320"/>
          </a:xfrm>
          <a:prstGeom prst="rect">
            <a:avLst/>
          </a:prstGeom>
          <a:noFill/>
        </p:spPr>
        <p:txBody>
          <a:bodyPr wrap="none">
            <a:spAutoFit/>
          </a:bodyPr>
          <a:lstStyle/>
          <a:p>
            <a:pPr>
              <a:defRPr sz="1800" b="1">
                <a:solidFill>
                  <a:srgbClr val="FFFFFF"/>
                </a:solidFill>
              </a:defRPr>
            </a:pPr>
            <a:r>
              <a:t>⚠️ KAMCHILIKLAR:</a:t>
            </a:r>
          </a:p>
        </p:txBody>
      </p:sp>
      <p:sp>
        <p:nvSpPr>
          <p:cNvPr id="13" name="TextBox 12"/>
          <p:cNvSpPr txBox="1"/>
          <p:nvPr/>
        </p:nvSpPr>
        <p:spPr>
          <a:xfrm>
            <a:off x="5120640" y="3474720"/>
            <a:ext cx="3383280" cy="1554480"/>
          </a:xfrm>
          <a:prstGeom prst="rect">
            <a:avLst/>
          </a:prstGeom>
          <a:noFill/>
        </p:spPr>
        <p:txBody>
          <a:bodyPr wrap="square">
            <a:spAutoFit/>
          </a:bodyPr>
          <a:lstStyle/>
          <a:p>
            <a:pPr>
              <a:spcAft>
                <a:spcPts val="400"/>
              </a:spcAft>
              <a:defRPr sz="1400">
                <a:solidFill>
                  <a:srgbClr val="FFFFFF"/>
                </a:solidFill>
              </a:defRPr>
            </a:pPr>
            <a:r>
              <a:t>• Sifat pasayishi xavfi</a:t>
            </a:r>
          </a:p>
          <a:p>
            <a:pPr>
              <a:spcAft>
                <a:spcPts val="400"/>
              </a:spcAft>
              <a:defRPr sz="1400">
                <a:solidFill>
                  <a:srgbClr val="FFFFFF"/>
                </a:solidFill>
              </a:defRPr>
            </a:pPr>
            <a:r>
              <a:t>• Kichik foyda marjasi</a:t>
            </a:r>
          </a:p>
          <a:p>
            <a:pPr>
              <a:spcAft>
                <a:spcPts val="400"/>
              </a:spcAft>
              <a:defRPr sz="1400">
                <a:solidFill>
                  <a:srgbClr val="FFFFFF"/>
                </a:solidFill>
              </a:defRPr>
            </a:pPr>
            <a:r>
              <a:t>• Brand imijining zaif bo'lishi</a:t>
            </a:r>
          </a:p>
          <a:p>
            <a:pPr>
              <a:spcAft>
                <a:spcPts val="400"/>
              </a:spcAft>
              <a:defRPr sz="1400">
                <a:solidFill>
                  <a:srgbClr val="FFFFFF"/>
                </a:solidFill>
              </a:defRPr>
            </a:pPr>
            <a:r>
              <a:t>• Innovatsiyalarga kam investitsiya</a:t>
            </a:r>
          </a:p>
        </p:txBody>
      </p:sp>
      <p:sp>
        <p:nvSpPr>
          <p:cNvPr id="14" name="Rounded Rectangle 13"/>
          <p:cNvSpPr/>
          <p:nvPr/>
        </p:nvSpPr>
        <p:spPr>
          <a:xfrm>
            <a:off x="640080" y="5486400"/>
            <a:ext cx="7863840" cy="640080"/>
          </a:xfrm>
          <a:prstGeom prst="roundRect">
            <a:avLst/>
          </a:prstGeom>
          <a:solidFill>
            <a:srgbClr val="FFFFFF"/>
          </a:solidFill>
          <a:ln w="381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23560"/>
            <a:ext cx="7498079" cy="365760"/>
          </a:xfrm>
          <a:prstGeom prst="rect">
            <a:avLst/>
          </a:prstGeom>
          <a:noFill/>
        </p:spPr>
        <p:txBody>
          <a:bodyPr wrap="square">
            <a:spAutoFit/>
          </a:bodyPr>
          <a:lstStyle/>
          <a:p>
            <a:pPr>
              <a:defRPr sz="1500">
                <a:solidFill>
                  <a:srgbClr val="34495E"/>
                </a:solidFill>
              </a:defRPr>
            </a:pPr>
            <a:r>
              <a:t>💼 MISOL: Walmart, Costco - eng past narxlarda mahsulotlar taklif qiluvchi kompaniyalar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548640"/>
          </a:xfrm>
          <a:prstGeom prst="rect">
            <a:avLst/>
          </a:prstGeom>
          <a:noFill/>
        </p:spPr>
        <p:txBody>
          <a:bodyPr wrap="none">
            <a:spAutoFit/>
          </a:bodyPr>
          <a:lstStyle/>
          <a:p>
            <a:pPr algn="ctr">
              <a:defRPr sz="3200" b="1">
                <a:solidFill>
                  <a:srgbClr val="FFFFFF"/>
                </a:solidFill>
              </a:defRPr>
            </a:pPr>
            <a:r>
              <a:t>2-STRATEGIYA: DIFFERENSIATSIYA</a:t>
            </a:r>
          </a:p>
        </p:txBody>
      </p:sp>
      <p:sp>
        <p:nvSpPr>
          <p:cNvPr id="4" name="Rounded Rectangle 3"/>
          <p:cNvSpPr/>
          <p:nvPr/>
        </p:nvSpPr>
        <p:spPr>
          <a:xfrm>
            <a:off x="914400" y="1097280"/>
            <a:ext cx="7315200" cy="548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234440"/>
            <a:ext cx="6949440" cy="320040"/>
          </a:xfrm>
          <a:prstGeom prst="rect">
            <a:avLst/>
          </a:prstGeom>
          <a:noFill/>
        </p:spPr>
        <p:txBody>
          <a:bodyPr wrap="none">
            <a:spAutoFit/>
          </a:bodyPr>
          <a:lstStyle/>
          <a:p>
            <a:pPr algn="ctr">
              <a:defRPr sz="2200" b="1">
                <a:solidFill>
                  <a:srgbClr val="9B59B6"/>
                </a:solidFill>
              </a:defRPr>
            </a:pPr>
            <a:r>
              <a:t>⭐ DIFFERENTIATION (Farqlash)</a:t>
            </a:r>
          </a:p>
        </p:txBody>
      </p:sp>
      <p:sp>
        <p:nvSpPr>
          <p:cNvPr id="6" name="Rounded Rectangle 5"/>
          <p:cNvSpPr/>
          <p:nvPr/>
        </p:nvSpPr>
        <p:spPr>
          <a:xfrm>
            <a:off x="914400" y="1828800"/>
            <a:ext cx="7315200" cy="822960"/>
          </a:xfrm>
          <a:prstGeom prst="roundRect">
            <a:avLst/>
          </a:prstGeom>
          <a:solidFill>
            <a:srgbClr val="FFFFFF"/>
          </a:solidFill>
          <a:ln w="3810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965960"/>
            <a:ext cx="6766560" cy="548640"/>
          </a:xfrm>
          <a:prstGeom prst="rect">
            <a:avLst/>
          </a:prstGeom>
          <a:noFill/>
        </p:spPr>
        <p:txBody>
          <a:bodyPr wrap="square">
            <a:spAutoFit/>
          </a:bodyPr>
          <a:lstStyle/>
          <a:p>
            <a:pPr>
              <a:defRPr sz="1500">
                <a:solidFill>
                  <a:srgbClr val="2C3E50"/>
                </a:solidFill>
              </a:defRPr>
            </a:pPr>
            <a:r>
              <a:t>Differensiatsiya strategiyasi - bu kompaniyaning bozorda noyob va o'ziga xos mahsulot yoki xizmat yaratishi. Maqsad - raqobatchilardan ajralib turish va premium narx qo'yish imkoniyatini olish.</a:t>
            </a:r>
          </a:p>
        </p:txBody>
      </p:sp>
      <p:sp>
        <p:nvSpPr>
          <p:cNvPr id="8" name="Rounded Rectangle 7"/>
          <p:cNvSpPr/>
          <p:nvPr/>
        </p:nvSpPr>
        <p:spPr>
          <a:xfrm>
            <a:off x="640080" y="2926080"/>
            <a:ext cx="3931920" cy="2286000"/>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08960"/>
            <a:ext cx="3383280" cy="274320"/>
          </a:xfrm>
          <a:prstGeom prst="rect">
            <a:avLst/>
          </a:prstGeom>
          <a:noFill/>
        </p:spPr>
        <p:txBody>
          <a:bodyPr wrap="none">
            <a:spAutoFit/>
          </a:bodyPr>
          <a:lstStyle/>
          <a:p>
            <a:pPr>
              <a:defRPr sz="1800" b="1">
                <a:solidFill>
                  <a:srgbClr val="FFFFFF"/>
                </a:solidFill>
              </a:defRPr>
            </a:pPr>
            <a:r>
              <a:t>✅ AFZALLIKLAR:</a:t>
            </a:r>
          </a:p>
        </p:txBody>
      </p:sp>
      <p:sp>
        <p:nvSpPr>
          <p:cNvPr id="10" name="TextBox 9"/>
          <p:cNvSpPr txBox="1"/>
          <p:nvPr/>
        </p:nvSpPr>
        <p:spPr>
          <a:xfrm>
            <a:off x="914400" y="3474720"/>
            <a:ext cx="3383280" cy="1554480"/>
          </a:xfrm>
          <a:prstGeom prst="rect">
            <a:avLst/>
          </a:prstGeom>
          <a:noFill/>
        </p:spPr>
        <p:txBody>
          <a:bodyPr wrap="square">
            <a:spAutoFit/>
          </a:bodyPr>
          <a:lstStyle/>
          <a:p>
            <a:pPr>
              <a:spcAft>
                <a:spcPts val="400"/>
              </a:spcAft>
              <a:defRPr sz="1400">
                <a:solidFill>
                  <a:srgbClr val="FFFFFF"/>
                </a:solidFill>
              </a:defRPr>
            </a:pPr>
            <a:r>
              <a:t>• Premium narxlarni qo'llash</a:t>
            </a:r>
          </a:p>
          <a:p>
            <a:pPr>
              <a:spcAft>
                <a:spcPts val="400"/>
              </a:spcAft>
              <a:defRPr sz="1400">
                <a:solidFill>
                  <a:srgbClr val="FFFFFF"/>
                </a:solidFill>
              </a:defRPr>
            </a:pPr>
            <a:r>
              <a:t>• Kuchli brand loyalligi</a:t>
            </a:r>
          </a:p>
          <a:p>
            <a:pPr>
              <a:spcAft>
                <a:spcPts val="400"/>
              </a:spcAft>
              <a:defRPr sz="1400">
                <a:solidFill>
                  <a:srgbClr val="FFFFFF"/>
                </a:solidFill>
              </a:defRPr>
            </a:pPr>
            <a:r>
              <a:t>• Noyob bozor pozitsiyasi</a:t>
            </a:r>
          </a:p>
          <a:p>
            <a:pPr>
              <a:spcAft>
                <a:spcPts val="400"/>
              </a:spcAft>
              <a:defRPr sz="1400">
                <a:solidFill>
                  <a:srgbClr val="FFFFFF"/>
                </a:solidFill>
              </a:defRPr>
            </a:pPr>
            <a:r>
              <a:t>• Yuqori foyda marjasi</a:t>
            </a:r>
          </a:p>
        </p:txBody>
      </p:sp>
      <p:sp>
        <p:nvSpPr>
          <p:cNvPr id="11" name="Rounded Rectangle 10"/>
          <p:cNvSpPr/>
          <p:nvPr/>
        </p:nvSpPr>
        <p:spPr>
          <a:xfrm>
            <a:off x="4846320" y="2926080"/>
            <a:ext cx="3931920" cy="228600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3108960"/>
            <a:ext cx="3383280" cy="274320"/>
          </a:xfrm>
          <a:prstGeom prst="rect">
            <a:avLst/>
          </a:prstGeom>
          <a:noFill/>
        </p:spPr>
        <p:txBody>
          <a:bodyPr wrap="none">
            <a:spAutoFit/>
          </a:bodyPr>
          <a:lstStyle/>
          <a:p>
            <a:pPr>
              <a:defRPr sz="1800" b="1">
                <a:solidFill>
                  <a:srgbClr val="FFFFFF"/>
                </a:solidFill>
              </a:defRPr>
            </a:pPr>
            <a:r>
              <a:t>⚠️ KAMCHILIKLAR:</a:t>
            </a:r>
          </a:p>
        </p:txBody>
      </p:sp>
      <p:sp>
        <p:nvSpPr>
          <p:cNvPr id="13" name="TextBox 12"/>
          <p:cNvSpPr txBox="1"/>
          <p:nvPr/>
        </p:nvSpPr>
        <p:spPr>
          <a:xfrm>
            <a:off x="5120640" y="3474720"/>
            <a:ext cx="3383280" cy="1554480"/>
          </a:xfrm>
          <a:prstGeom prst="rect">
            <a:avLst/>
          </a:prstGeom>
          <a:noFill/>
        </p:spPr>
        <p:txBody>
          <a:bodyPr wrap="square">
            <a:spAutoFit/>
          </a:bodyPr>
          <a:lstStyle/>
          <a:p>
            <a:pPr>
              <a:spcAft>
                <a:spcPts val="400"/>
              </a:spcAft>
              <a:defRPr sz="1400">
                <a:solidFill>
                  <a:srgbClr val="FFFFFF"/>
                </a:solidFill>
              </a:defRPr>
            </a:pPr>
            <a:r>
              <a:t>• Yuqori ishlab chiqarish xarajatlari</a:t>
            </a:r>
          </a:p>
          <a:p>
            <a:pPr>
              <a:spcAft>
                <a:spcPts val="400"/>
              </a:spcAft>
              <a:defRPr sz="1400">
                <a:solidFill>
                  <a:srgbClr val="FFFFFF"/>
                </a:solidFill>
              </a:defRPr>
            </a:pPr>
            <a:r>
              <a:t>• Imitatsiya xavfi</a:t>
            </a:r>
          </a:p>
          <a:p>
            <a:pPr>
              <a:spcAft>
                <a:spcPts val="400"/>
              </a:spcAft>
              <a:defRPr sz="1400">
                <a:solidFill>
                  <a:srgbClr val="FFFFFF"/>
                </a:solidFill>
              </a:defRPr>
            </a:pPr>
            <a:r>
              <a:t>• Cheklangan maqsadli auditoriya</a:t>
            </a:r>
          </a:p>
          <a:p>
            <a:pPr>
              <a:spcAft>
                <a:spcPts val="400"/>
              </a:spcAft>
              <a:defRPr sz="1400">
                <a:solidFill>
                  <a:srgbClr val="FFFFFF"/>
                </a:solidFill>
              </a:defRPr>
            </a:pPr>
            <a:r>
              <a:t>• Bozor talabiga bog'liqlik</a:t>
            </a:r>
          </a:p>
        </p:txBody>
      </p:sp>
      <p:sp>
        <p:nvSpPr>
          <p:cNvPr id="14" name="Rounded Rectangle 13"/>
          <p:cNvSpPr/>
          <p:nvPr/>
        </p:nvSpPr>
        <p:spPr>
          <a:xfrm>
            <a:off x="640080" y="5486400"/>
            <a:ext cx="7863840" cy="640080"/>
          </a:xfrm>
          <a:prstGeom prst="roundRect">
            <a:avLst/>
          </a:prstGeom>
          <a:solidFill>
            <a:srgbClr val="FFFFFF"/>
          </a:solidFill>
          <a:ln w="381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23560"/>
            <a:ext cx="7498079" cy="365760"/>
          </a:xfrm>
          <a:prstGeom prst="rect">
            <a:avLst/>
          </a:prstGeom>
          <a:noFill/>
        </p:spPr>
        <p:txBody>
          <a:bodyPr wrap="square">
            <a:spAutoFit/>
          </a:bodyPr>
          <a:lstStyle/>
          <a:p>
            <a:pPr>
              <a:defRPr sz="1500">
                <a:solidFill>
                  <a:srgbClr val="34495E"/>
                </a:solidFill>
              </a:defRPr>
            </a:pPr>
            <a:r>
              <a:t>💼 MISOL: Apple, Tesla, Mercedes-Benz - noyob mahsulotlar yaratuvchi kompaniyalar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548640"/>
          </a:xfrm>
          <a:prstGeom prst="rect">
            <a:avLst/>
          </a:prstGeom>
          <a:noFill/>
        </p:spPr>
        <p:txBody>
          <a:bodyPr wrap="none">
            <a:spAutoFit/>
          </a:bodyPr>
          <a:lstStyle/>
          <a:p>
            <a:pPr algn="ctr">
              <a:defRPr sz="3200" b="1">
                <a:solidFill>
                  <a:srgbClr val="FFFFFF"/>
                </a:solidFill>
              </a:defRPr>
            </a:pPr>
            <a:r>
              <a:t>3-STRATEGIYA: FOKUSLANISH</a:t>
            </a:r>
          </a:p>
        </p:txBody>
      </p:sp>
      <p:sp>
        <p:nvSpPr>
          <p:cNvPr id="4" name="Rounded Rectangle 3"/>
          <p:cNvSpPr/>
          <p:nvPr/>
        </p:nvSpPr>
        <p:spPr>
          <a:xfrm>
            <a:off x="914400" y="1097280"/>
            <a:ext cx="7315200" cy="5486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234440"/>
            <a:ext cx="6949440" cy="320040"/>
          </a:xfrm>
          <a:prstGeom prst="rect">
            <a:avLst/>
          </a:prstGeom>
          <a:noFill/>
        </p:spPr>
        <p:txBody>
          <a:bodyPr wrap="none">
            <a:spAutoFit/>
          </a:bodyPr>
          <a:lstStyle/>
          <a:p>
            <a:pPr algn="ctr">
              <a:defRPr sz="2200" b="1">
                <a:solidFill>
                  <a:srgbClr val="E67E22"/>
                </a:solidFill>
              </a:defRPr>
            </a:pPr>
            <a:r>
              <a:t>🎯 FOCUS STRATEGY (Fokus strategiya)</a:t>
            </a:r>
          </a:p>
        </p:txBody>
      </p:sp>
      <p:sp>
        <p:nvSpPr>
          <p:cNvPr id="6" name="Rounded Rectangle 5"/>
          <p:cNvSpPr/>
          <p:nvPr/>
        </p:nvSpPr>
        <p:spPr>
          <a:xfrm>
            <a:off x="914400" y="1828800"/>
            <a:ext cx="7315200" cy="822960"/>
          </a:xfrm>
          <a:prstGeom prst="roundRect">
            <a:avLst/>
          </a:prstGeom>
          <a:solidFill>
            <a:srgbClr val="FFFFFF"/>
          </a:solidFill>
          <a:ln w="3810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1965960"/>
            <a:ext cx="6766560" cy="548640"/>
          </a:xfrm>
          <a:prstGeom prst="rect">
            <a:avLst/>
          </a:prstGeom>
          <a:noFill/>
        </p:spPr>
        <p:txBody>
          <a:bodyPr wrap="square">
            <a:spAutoFit/>
          </a:bodyPr>
          <a:lstStyle/>
          <a:p>
            <a:pPr>
              <a:defRPr sz="1500">
                <a:solidFill>
                  <a:srgbClr val="2C3E50"/>
                </a:solidFill>
              </a:defRPr>
            </a:pPr>
            <a:r>
              <a:t>Fokus strategiyasi - bu kompaniyaning barcha resurslarini ma'lum bir segmentga, nichga yoki geografik hududga yo'naltirishi. Bu strategiya kichik, lekin samarali biznes yuritishga imkon beradi.</a:t>
            </a:r>
          </a:p>
        </p:txBody>
      </p:sp>
      <p:sp>
        <p:nvSpPr>
          <p:cNvPr id="8" name="Rounded Rectangle 7"/>
          <p:cNvSpPr/>
          <p:nvPr/>
        </p:nvSpPr>
        <p:spPr>
          <a:xfrm>
            <a:off x="640080" y="2926080"/>
            <a:ext cx="3931920" cy="2286000"/>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108960"/>
            <a:ext cx="3383280" cy="274320"/>
          </a:xfrm>
          <a:prstGeom prst="rect">
            <a:avLst/>
          </a:prstGeom>
          <a:noFill/>
        </p:spPr>
        <p:txBody>
          <a:bodyPr wrap="none">
            <a:spAutoFit/>
          </a:bodyPr>
          <a:lstStyle/>
          <a:p>
            <a:pPr>
              <a:defRPr sz="1800" b="1">
                <a:solidFill>
                  <a:srgbClr val="FFFFFF"/>
                </a:solidFill>
              </a:defRPr>
            </a:pPr>
            <a:r>
              <a:t>✅ AFZALLIKLAR:</a:t>
            </a:r>
          </a:p>
        </p:txBody>
      </p:sp>
      <p:sp>
        <p:nvSpPr>
          <p:cNvPr id="10" name="TextBox 9"/>
          <p:cNvSpPr txBox="1"/>
          <p:nvPr/>
        </p:nvSpPr>
        <p:spPr>
          <a:xfrm>
            <a:off x="914400" y="3474720"/>
            <a:ext cx="3383280" cy="1554480"/>
          </a:xfrm>
          <a:prstGeom prst="rect">
            <a:avLst/>
          </a:prstGeom>
          <a:noFill/>
        </p:spPr>
        <p:txBody>
          <a:bodyPr wrap="square">
            <a:spAutoFit/>
          </a:bodyPr>
          <a:lstStyle/>
          <a:p>
            <a:pPr>
              <a:spcAft>
                <a:spcPts val="400"/>
              </a:spcAft>
              <a:defRPr sz="1400">
                <a:solidFill>
                  <a:srgbClr val="FFFFFF"/>
                </a:solidFill>
              </a:defRPr>
            </a:pPr>
            <a:r>
              <a:t>• Chuqur bozor bilimi</a:t>
            </a:r>
          </a:p>
          <a:p>
            <a:pPr>
              <a:spcAft>
                <a:spcPts val="400"/>
              </a:spcAft>
              <a:defRPr sz="1400">
                <a:solidFill>
                  <a:srgbClr val="FFFFFF"/>
                </a:solidFill>
              </a:defRPr>
            </a:pPr>
            <a:r>
              <a:t>• Mijozlarning aniq ehtiyojlarini qondirib berish</a:t>
            </a:r>
          </a:p>
          <a:p>
            <a:pPr>
              <a:spcAft>
                <a:spcPts val="400"/>
              </a:spcAft>
              <a:defRPr sz="1400">
                <a:solidFill>
                  <a:srgbClr val="FFFFFF"/>
                </a:solidFill>
              </a:defRPr>
            </a:pPr>
            <a:r>
              <a:t>• Yuqori mijoz sodiqligis</a:t>
            </a:r>
          </a:p>
          <a:p>
            <a:pPr>
              <a:spcAft>
                <a:spcPts val="400"/>
              </a:spcAft>
              <a:defRPr sz="1400">
                <a:solidFill>
                  <a:srgbClr val="FFFFFF"/>
                </a:solidFill>
              </a:defRPr>
            </a:pPr>
            <a:r>
              <a:t>• Niche bozorda monopoliya</a:t>
            </a:r>
          </a:p>
        </p:txBody>
      </p:sp>
      <p:sp>
        <p:nvSpPr>
          <p:cNvPr id="11" name="Rounded Rectangle 10"/>
          <p:cNvSpPr/>
          <p:nvPr/>
        </p:nvSpPr>
        <p:spPr>
          <a:xfrm>
            <a:off x="4846320" y="2926080"/>
            <a:ext cx="3931920" cy="228600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3108960"/>
            <a:ext cx="3383280" cy="274320"/>
          </a:xfrm>
          <a:prstGeom prst="rect">
            <a:avLst/>
          </a:prstGeom>
          <a:noFill/>
        </p:spPr>
        <p:txBody>
          <a:bodyPr wrap="none">
            <a:spAutoFit/>
          </a:bodyPr>
          <a:lstStyle/>
          <a:p>
            <a:pPr>
              <a:defRPr sz="1800" b="1">
                <a:solidFill>
                  <a:srgbClr val="FFFFFF"/>
                </a:solidFill>
              </a:defRPr>
            </a:pPr>
            <a:r>
              <a:t>⚠️ KAMCHILIKLAR:</a:t>
            </a:r>
          </a:p>
        </p:txBody>
      </p:sp>
      <p:sp>
        <p:nvSpPr>
          <p:cNvPr id="13" name="TextBox 12"/>
          <p:cNvSpPr txBox="1"/>
          <p:nvPr/>
        </p:nvSpPr>
        <p:spPr>
          <a:xfrm>
            <a:off x="5120640" y="3474720"/>
            <a:ext cx="3383280" cy="1554480"/>
          </a:xfrm>
          <a:prstGeom prst="rect">
            <a:avLst/>
          </a:prstGeom>
          <a:noFill/>
        </p:spPr>
        <p:txBody>
          <a:bodyPr wrap="square">
            <a:spAutoFit/>
          </a:bodyPr>
          <a:lstStyle/>
          <a:p>
            <a:pPr>
              <a:spcAft>
                <a:spcPts val="400"/>
              </a:spcAft>
              <a:defRPr sz="1400">
                <a:solidFill>
                  <a:srgbClr val="FFFFFF"/>
                </a:solidFill>
              </a:defRPr>
            </a:pPr>
            <a:r>
              <a:t>• Cheklangan o'sish imkoniyatlari</a:t>
            </a:r>
          </a:p>
          <a:p>
            <a:pPr>
              <a:spcAft>
                <a:spcPts val="400"/>
              </a:spcAft>
              <a:defRPr sz="1400">
                <a:solidFill>
                  <a:srgbClr val="FFFFFF"/>
                </a:solidFill>
              </a:defRPr>
            </a:pPr>
            <a:r>
              <a:t>• Bozor o'zgarishlariga sezgirlik</a:t>
            </a:r>
          </a:p>
          <a:p>
            <a:pPr>
              <a:spcAft>
                <a:spcPts val="400"/>
              </a:spcAft>
              <a:defRPr sz="1400">
                <a:solidFill>
                  <a:srgbClr val="FFFFFF"/>
                </a:solidFill>
              </a:defRPr>
            </a:pPr>
            <a:r>
              <a:t>• Kichik miqyos</a:t>
            </a:r>
          </a:p>
          <a:p>
            <a:pPr>
              <a:spcAft>
                <a:spcPts val="400"/>
              </a:spcAft>
              <a:defRPr sz="1400">
                <a:solidFill>
                  <a:srgbClr val="FFFFFF"/>
                </a:solidFill>
              </a:defRPr>
            </a:pPr>
            <a:r>
              <a:t>• Diversifikatsiya qiyinligi</a:t>
            </a:r>
          </a:p>
        </p:txBody>
      </p:sp>
      <p:sp>
        <p:nvSpPr>
          <p:cNvPr id="14" name="Rounded Rectangle 13"/>
          <p:cNvSpPr/>
          <p:nvPr/>
        </p:nvSpPr>
        <p:spPr>
          <a:xfrm>
            <a:off x="640080" y="5486400"/>
            <a:ext cx="7863840" cy="640080"/>
          </a:xfrm>
          <a:prstGeom prst="roundRect">
            <a:avLst/>
          </a:prstGeom>
          <a:solidFill>
            <a:srgbClr val="FFFFFF"/>
          </a:solidFill>
          <a:ln w="381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623560"/>
            <a:ext cx="7498079" cy="365760"/>
          </a:xfrm>
          <a:prstGeom prst="rect">
            <a:avLst/>
          </a:prstGeom>
          <a:noFill/>
        </p:spPr>
        <p:txBody>
          <a:bodyPr wrap="square">
            <a:spAutoFit/>
          </a:bodyPr>
          <a:lstStyle/>
          <a:p>
            <a:pPr>
              <a:defRPr sz="1500">
                <a:solidFill>
                  <a:srgbClr val="34495E"/>
                </a:solidFill>
              </a:defRPr>
            </a:pPr>
            <a:r>
              <a:t>💼 MISOL: Rolls-Royce, Rolex - premium segmentga yo'naltirilgan kompaniyalar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548640"/>
          </a:xfrm>
          <a:prstGeom prst="rect">
            <a:avLst/>
          </a:prstGeom>
          <a:noFill/>
        </p:spPr>
        <p:txBody>
          <a:bodyPr wrap="none">
            <a:spAutoFit/>
          </a:bodyPr>
          <a:lstStyle/>
          <a:p>
            <a:pPr algn="ctr">
              <a:defRPr sz="3600" b="1">
                <a:solidFill>
                  <a:srgbClr val="FFFFFF"/>
                </a:solidFill>
              </a:defRPr>
            </a:pPr>
            <a:r>
              <a:t>PORTER'NING 5 KUCH MODELI</a:t>
            </a:r>
          </a:p>
        </p:txBody>
      </p:sp>
      <p:sp>
        <p:nvSpPr>
          <p:cNvPr id="4" name="Oval 3"/>
          <p:cNvSpPr/>
          <p:nvPr/>
        </p:nvSpPr>
        <p:spPr>
          <a:xfrm>
            <a:off x="3200400" y="2743200"/>
            <a:ext cx="2743200" cy="1828800"/>
          </a:xfrm>
          <a:prstGeom prst="ellipse">
            <a:avLst/>
          </a:prstGeom>
          <a:solidFill>
            <a:srgbClr val="F1C40F"/>
          </a:solidFill>
          <a:ln w="508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0" y="3383280"/>
            <a:ext cx="2194560" cy="548640"/>
          </a:xfrm>
          <a:prstGeom prst="rect">
            <a:avLst/>
          </a:prstGeom>
          <a:noFill/>
        </p:spPr>
        <p:txBody>
          <a:bodyPr wrap="none">
            <a:spAutoFit/>
          </a:bodyPr>
          <a:lstStyle/>
          <a:p>
            <a:pPr algn="ctr">
              <a:defRPr sz="1800" b="1">
                <a:solidFill>
                  <a:srgbClr val="FFFFFF"/>
                </a:solidFill>
              </a:defRPr>
            </a:pPr>
            <a:r>
              <a:t>KOMPANIYA</a:t>
            </a:r>
          </a:p>
          <a:p>
            <a:pPr algn="ctr">
              <a:defRPr sz="1800" b="1">
                <a:solidFill>
                  <a:srgbClr val="FFFFFF"/>
                </a:solidFill>
              </a:defRPr>
            </a:pPr>
            <a:r>
              <a:t>va</a:t>
            </a:r>
          </a:p>
          <a:p>
            <a:pPr algn="ctr">
              <a:defRPr sz="1800" b="1">
                <a:solidFill>
                  <a:srgbClr val="FFFFFF"/>
                </a:solidFill>
              </a:defRPr>
            </a:pPr>
            <a:r>
              <a:t>RAQOBAT</a:t>
            </a:r>
          </a:p>
        </p:txBody>
      </p:sp>
      <p:sp>
        <p:nvSpPr>
          <p:cNvPr id="6" name="Rounded Rectangle 5"/>
          <p:cNvSpPr/>
          <p:nvPr/>
        </p:nvSpPr>
        <p:spPr>
          <a:xfrm>
            <a:off x="3200400" y="1097280"/>
            <a:ext cx="2468880" cy="109728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91840" y="1188720"/>
            <a:ext cx="2286000" cy="365760"/>
          </a:xfrm>
          <a:prstGeom prst="rect">
            <a:avLst/>
          </a:prstGeom>
          <a:noFill/>
        </p:spPr>
        <p:txBody>
          <a:bodyPr wrap="square">
            <a:spAutoFit/>
          </a:bodyPr>
          <a:lstStyle/>
          <a:p>
            <a:pPr algn="ctr">
              <a:defRPr sz="1600" b="1">
                <a:solidFill>
                  <a:srgbClr val="FFFFFF"/>
                </a:solidFill>
              </a:defRPr>
            </a:pPr>
            <a:r>
              <a:t>Mavjud raqobatchilar</a:t>
            </a:r>
          </a:p>
        </p:txBody>
      </p:sp>
      <p:sp>
        <p:nvSpPr>
          <p:cNvPr id="8" name="TextBox 7"/>
          <p:cNvSpPr txBox="1"/>
          <p:nvPr/>
        </p:nvSpPr>
        <p:spPr>
          <a:xfrm>
            <a:off x="3291840" y="1600200"/>
            <a:ext cx="2286000" cy="548640"/>
          </a:xfrm>
          <a:prstGeom prst="rect">
            <a:avLst/>
          </a:prstGeom>
          <a:noFill/>
        </p:spPr>
        <p:txBody>
          <a:bodyPr wrap="square">
            <a:spAutoFit/>
          </a:bodyPr>
          <a:lstStyle/>
          <a:p>
            <a:pPr algn="ctr">
              <a:defRPr sz="1200">
                <a:solidFill>
                  <a:srgbClr val="FFFFFF"/>
                </a:solidFill>
              </a:defRPr>
            </a:pPr>
            <a:r>
              <a:t>Sohada faoliyat</a:t>
            </a:r>
          </a:p>
          <a:p>
            <a:pPr algn="ctr">
              <a:defRPr sz="1200">
                <a:solidFill>
                  <a:srgbClr val="FFFFFF"/>
                </a:solidFill>
              </a:defRPr>
            </a:pPr>
            <a:r>
              <a:t>yuritayotgan kompaniyalar</a:t>
            </a:r>
          </a:p>
        </p:txBody>
      </p:sp>
      <p:sp>
        <p:nvSpPr>
          <p:cNvPr id="9" name="Rounded Rectangle 8"/>
          <p:cNvSpPr/>
          <p:nvPr/>
        </p:nvSpPr>
        <p:spPr>
          <a:xfrm>
            <a:off x="457200" y="2743200"/>
            <a:ext cx="2468880" cy="1097280"/>
          </a:xfrm>
          <a:prstGeom prst="round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834640"/>
            <a:ext cx="2286000" cy="365760"/>
          </a:xfrm>
          <a:prstGeom prst="rect">
            <a:avLst/>
          </a:prstGeom>
          <a:noFill/>
        </p:spPr>
        <p:txBody>
          <a:bodyPr wrap="square">
            <a:spAutoFit/>
          </a:bodyPr>
          <a:lstStyle/>
          <a:p>
            <a:pPr algn="ctr">
              <a:defRPr sz="1600" b="1">
                <a:solidFill>
                  <a:srgbClr val="FFFFFF"/>
                </a:solidFill>
              </a:defRPr>
            </a:pPr>
            <a:r>
              <a:t>Yangi kirishlar xavfi</a:t>
            </a:r>
          </a:p>
        </p:txBody>
      </p:sp>
      <p:sp>
        <p:nvSpPr>
          <p:cNvPr id="11" name="TextBox 10"/>
          <p:cNvSpPr txBox="1"/>
          <p:nvPr/>
        </p:nvSpPr>
        <p:spPr>
          <a:xfrm>
            <a:off x="548640" y="3246120"/>
            <a:ext cx="2286000" cy="548640"/>
          </a:xfrm>
          <a:prstGeom prst="rect">
            <a:avLst/>
          </a:prstGeom>
          <a:noFill/>
        </p:spPr>
        <p:txBody>
          <a:bodyPr wrap="square">
            <a:spAutoFit/>
          </a:bodyPr>
          <a:lstStyle/>
          <a:p>
            <a:pPr algn="ctr">
              <a:defRPr sz="1200">
                <a:solidFill>
                  <a:srgbClr val="FFFFFF"/>
                </a:solidFill>
              </a:defRPr>
            </a:pPr>
            <a:r>
              <a:t>Yangi kompaniyalarning</a:t>
            </a:r>
          </a:p>
          <a:p>
            <a:pPr algn="ctr">
              <a:defRPr sz="1200">
                <a:solidFill>
                  <a:srgbClr val="FFFFFF"/>
                </a:solidFill>
              </a:defRPr>
            </a:pPr>
            <a:r>
              <a:t>bozorga kirish ehtimoli</a:t>
            </a:r>
          </a:p>
        </p:txBody>
      </p:sp>
      <p:sp>
        <p:nvSpPr>
          <p:cNvPr id="12" name="Rounded Rectangle 11"/>
          <p:cNvSpPr/>
          <p:nvPr/>
        </p:nvSpPr>
        <p:spPr>
          <a:xfrm>
            <a:off x="3200400" y="5029200"/>
            <a:ext cx="2468880" cy="10972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1840" y="5120640"/>
            <a:ext cx="2286000" cy="365760"/>
          </a:xfrm>
          <a:prstGeom prst="rect">
            <a:avLst/>
          </a:prstGeom>
          <a:noFill/>
        </p:spPr>
        <p:txBody>
          <a:bodyPr wrap="square">
            <a:spAutoFit/>
          </a:bodyPr>
          <a:lstStyle/>
          <a:p>
            <a:pPr algn="ctr">
              <a:defRPr sz="1600" b="1">
                <a:solidFill>
                  <a:srgbClr val="FFFFFF"/>
                </a:solidFill>
              </a:defRPr>
            </a:pPr>
            <a:r>
              <a:t>Yetkazuvchilar kuchi</a:t>
            </a:r>
          </a:p>
        </p:txBody>
      </p:sp>
      <p:sp>
        <p:nvSpPr>
          <p:cNvPr id="14" name="TextBox 13"/>
          <p:cNvSpPr txBox="1"/>
          <p:nvPr/>
        </p:nvSpPr>
        <p:spPr>
          <a:xfrm>
            <a:off x="3291840" y="5532120"/>
            <a:ext cx="2286000" cy="548640"/>
          </a:xfrm>
          <a:prstGeom prst="rect">
            <a:avLst/>
          </a:prstGeom>
          <a:noFill/>
        </p:spPr>
        <p:txBody>
          <a:bodyPr wrap="square">
            <a:spAutoFit/>
          </a:bodyPr>
          <a:lstStyle/>
          <a:p>
            <a:pPr algn="ctr">
              <a:defRPr sz="1200">
                <a:solidFill>
                  <a:srgbClr val="FFFFFF"/>
                </a:solidFill>
              </a:defRPr>
            </a:pPr>
            <a:r>
              <a:t>Ta'minotchilarning</a:t>
            </a:r>
          </a:p>
          <a:p>
            <a:pPr algn="ctr">
              <a:defRPr sz="1200">
                <a:solidFill>
                  <a:srgbClr val="FFFFFF"/>
                </a:solidFill>
              </a:defRPr>
            </a:pPr>
            <a:r>
              <a:t>narx belgilash qobiliyati</a:t>
            </a:r>
          </a:p>
        </p:txBody>
      </p:sp>
      <p:sp>
        <p:nvSpPr>
          <p:cNvPr id="15" name="Rounded Rectangle 14"/>
          <p:cNvSpPr/>
          <p:nvPr/>
        </p:nvSpPr>
        <p:spPr>
          <a:xfrm>
            <a:off x="6217920" y="2743200"/>
            <a:ext cx="2468880" cy="1097280"/>
          </a:xfrm>
          <a:prstGeom prst="round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2834640"/>
            <a:ext cx="2286000" cy="365760"/>
          </a:xfrm>
          <a:prstGeom prst="rect">
            <a:avLst/>
          </a:prstGeom>
          <a:noFill/>
        </p:spPr>
        <p:txBody>
          <a:bodyPr wrap="square">
            <a:spAutoFit/>
          </a:bodyPr>
          <a:lstStyle/>
          <a:p>
            <a:pPr algn="ctr">
              <a:defRPr sz="1600" b="1">
                <a:solidFill>
                  <a:srgbClr val="FFFFFF"/>
                </a:solidFill>
              </a:defRPr>
            </a:pPr>
            <a:r>
              <a:t>Xaridorlar kuchi</a:t>
            </a:r>
          </a:p>
        </p:txBody>
      </p:sp>
      <p:sp>
        <p:nvSpPr>
          <p:cNvPr id="17" name="TextBox 16"/>
          <p:cNvSpPr txBox="1"/>
          <p:nvPr/>
        </p:nvSpPr>
        <p:spPr>
          <a:xfrm>
            <a:off x="6309360" y="3246120"/>
            <a:ext cx="2286000" cy="548640"/>
          </a:xfrm>
          <a:prstGeom prst="rect">
            <a:avLst/>
          </a:prstGeom>
          <a:noFill/>
        </p:spPr>
        <p:txBody>
          <a:bodyPr wrap="square">
            <a:spAutoFit/>
          </a:bodyPr>
          <a:lstStyle/>
          <a:p>
            <a:pPr algn="ctr">
              <a:defRPr sz="1200">
                <a:solidFill>
                  <a:srgbClr val="FFFFFF"/>
                </a:solidFill>
              </a:defRPr>
            </a:pPr>
            <a:r>
              <a:t>Mijozlarning</a:t>
            </a:r>
          </a:p>
          <a:p>
            <a:pPr algn="ctr">
              <a:defRPr sz="1200">
                <a:solidFill>
                  <a:srgbClr val="FFFFFF"/>
                </a:solidFill>
              </a:defRPr>
            </a:pPr>
            <a:r>
              <a:t>savdolashish qobiliyati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822960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94360"/>
            <a:ext cx="7315200" cy="548640"/>
          </a:xfrm>
          <a:prstGeom prst="rect">
            <a:avLst/>
          </a:prstGeom>
          <a:noFill/>
        </p:spPr>
        <p:txBody>
          <a:bodyPr wrap="none">
            <a:spAutoFit/>
          </a:bodyPr>
          <a:lstStyle/>
          <a:p>
            <a:pPr algn="ctr">
              <a:defRPr sz="3200" b="1">
                <a:solidFill>
                  <a:srgbClr val="1ABC9C"/>
                </a:solidFill>
              </a:defRPr>
            </a:pPr>
            <a:r>
              <a:t>5 kuch modeli tushuntirishi</a:t>
            </a:r>
          </a:p>
        </p:txBody>
      </p:sp>
      <p:sp>
        <p:nvSpPr>
          <p:cNvPr id="5" name="Rounded Rectangle 4"/>
          <p:cNvSpPr/>
          <p:nvPr/>
        </p:nvSpPr>
        <p:spPr>
          <a:xfrm>
            <a:off x="731520" y="1645920"/>
            <a:ext cx="768096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28800"/>
            <a:ext cx="6949440" cy="1463040"/>
          </a:xfrm>
          <a:prstGeom prst="rect">
            <a:avLst/>
          </a:prstGeom>
          <a:noFill/>
        </p:spPr>
        <p:txBody>
          <a:bodyPr wrap="square">
            <a:spAutoFit/>
          </a:bodyPr>
          <a:lstStyle/>
          <a:p>
            <a:pPr>
              <a:lnSpc>
                <a:spcPct val="130000"/>
              </a:lnSpc>
              <a:defRPr sz="1800">
                <a:solidFill>
                  <a:srgbClr val="2C3E50"/>
                </a:solidFill>
              </a:defRPr>
            </a:pPr>
            <a:r>
              <a:t>Porter'ning 5 kuch modeli kompaniyaga o'z sohalarida raqobat muhitini to'liq tahlil qilish imkonini beradi. Bu tahlil strategik qarorlar qabul qilishda muhim ahamiyatga ega.</a:t>
            </a:r>
          </a:p>
        </p:txBody>
      </p:sp>
      <p:sp>
        <p:nvSpPr>
          <p:cNvPr id="7" name="Rounded Rectangle 6"/>
          <p:cNvSpPr/>
          <p:nvPr/>
        </p:nvSpPr>
        <p:spPr>
          <a:xfrm>
            <a:off x="731520" y="3749039"/>
            <a:ext cx="7680960" cy="457200"/>
          </a:xfrm>
          <a:prstGeom prst="roundRect">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840480"/>
            <a:ext cx="7315200" cy="274320"/>
          </a:xfrm>
          <a:prstGeom prst="rect">
            <a:avLst/>
          </a:prstGeom>
          <a:noFill/>
        </p:spPr>
        <p:txBody>
          <a:bodyPr wrap="none">
            <a:spAutoFit/>
          </a:bodyPr>
          <a:lstStyle/>
          <a:p>
            <a:pPr>
              <a:defRPr sz="2000" b="1">
                <a:solidFill>
                  <a:srgbClr val="FFFFFF"/>
                </a:solidFill>
              </a:defRPr>
            </a:pPr>
            <a:r>
              <a:t>📚 TUSHUNTIRISH:</a:t>
            </a:r>
          </a:p>
        </p:txBody>
      </p:sp>
      <p:sp>
        <p:nvSpPr>
          <p:cNvPr id="9" name="Rounded Rectangle 8"/>
          <p:cNvSpPr/>
          <p:nvPr/>
        </p:nvSpPr>
        <p:spPr>
          <a:xfrm>
            <a:off x="731520" y="4297680"/>
            <a:ext cx="7680960" cy="1645920"/>
          </a:xfrm>
          <a:prstGeom prst="roundRect">
            <a:avLst/>
          </a:prstGeom>
          <a:solidFill>
            <a:srgbClr val="FFFFFF"/>
          </a:solidFill>
          <a:ln w="3810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480560"/>
            <a:ext cx="6949440" cy="1280160"/>
          </a:xfrm>
          <a:prstGeom prst="rect">
            <a:avLst/>
          </a:prstGeom>
          <a:noFill/>
        </p:spPr>
        <p:txBody>
          <a:bodyPr wrap="square">
            <a:spAutoFit/>
          </a:bodyPr>
          <a:lstStyle/>
          <a:p>
            <a:pPr>
              <a:lnSpc>
                <a:spcPct val="120000"/>
              </a:lnSpc>
              <a:defRPr sz="1600">
                <a:solidFill>
                  <a:srgbClr val="34495E"/>
                </a:solidFill>
              </a:defRPr>
            </a:pPr>
            <a:r>
              <a:t>Har bir kuch kompaniyaning rentabelligiga ta'sir ko'rsatadi. Agar barcha 5 kuch kuchli bo'lsa, soha juda raqobatbardosh va foyda olish qiyin. Agar kuchlar zaif bo'lsa, kompaniya yuqori foyda olish imkoniyatiga ega. Maqsad - bu kuchlarni tushunish va ularni o'z foydasiga ishlatish.</a:t>
            </a:r>
          </a:p>
        </p:txBody>
      </p:sp>
      <p:sp>
        <p:nvSpPr>
          <p:cNvPr id="11" name="TextBox 10"/>
          <p:cNvSpPr txBox="1"/>
          <p:nvPr/>
        </p:nvSpPr>
        <p:spPr>
          <a:xfrm>
            <a:off x="7772400" y="1097280"/>
            <a:ext cx="914400" cy="731520"/>
          </a:xfrm>
          <a:prstGeom prst="rect">
            <a:avLst/>
          </a:prstGeom>
          <a:noFill/>
        </p:spPr>
        <p:txBody>
          <a:bodyPr wrap="none">
            <a:spAutoFit/>
          </a:bodyPr>
          <a:lstStyle/>
          <a:p>
            <a:pPr>
              <a:defRPr sz="4800"/>
            </a:pP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none">
            <a:spAutoFit/>
          </a:bodyPr>
          <a:lstStyle/>
          <a:p>
            <a:pPr algn="ctr">
              <a:defRPr sz="3200" b="1">
                <a:solidFill>
                  <a:srgbClr val="FFFFFF"/>
                </a:solidFill>
              </a:defRPr>
            </a:pPr>
            <a:r>
              <a:t>Raqobat ustunligining manbalari</a:t>
            </a:r>
          </a:p>
        </p:txBody>
      </p:sp>
      <p:sp>
        <p:nvSpPr>
          <p:cNvPr id="4" name="Rounded Rectangle 3"/>
          <p:cNvSpPr/>
          <p:nvPr/>
        </p:nvSpPr>
        <p:spPr>
          <a:xfrm>
            <a:off x="640080" y="1188720"/>
            <a:ext cx="7863840" cy="1051560"/>
          </a:xfrm>
          <a:prstGeom prst="roundRect">
            <a:avLst/>
          </a:prstGeom>
          <a:solidFill>
            <a:srgbClr val="FFFFFF"/>
          </a:solidFill>
          <a:ln w="508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280160"/>
            <a:ext cx="7315200" cy="320040"/>
          </a:xfrm>
          <a:prstGeom prst="rect">
            <a:avLst/>
          </a:prstGeom>
          <a:noFill/>
        </p:spPr>
        <p:txBody>
          <a:bodyPr wrap="none">
            <a:spAutoFit/>
          </a:bodyPr>
          <a:lstStyle/>
          <a:p>
            <a:pPr>
              <a:defRPr sz="1800" b="1">
                <a:solidFill>
                  <a:srgbClr val="3498DB"/>
                </a:solidFill>
              </a:defRPr>
            </a:pPr>
            <a:r>
              <a:t>🔬 Innovatsiya va texnologiya</a:t>
            </a:r>
          </a:p>
        </p:txBody>
      </p:sp>
      <p:sp>
        <p:nvSpPr>
          <p:cNvPr id="6" name="TextBox 5"/>
          <p:cNvSpPr txBox="1"/>
          <p:nvPr/>
        </p:nvSpPr>
        <p:spPr>
          <a:xfrm>
            <a:off x="914400" y="1645920"/>
            <a:ext cx="7132320" cy="548640"/>
          </a:xfrm>
          <a:prstGeom prst="rect">
            <a:avLst/>
          </a:prstGeom>
          <a:noFill/>
        </p:spPr>
        <p:txBody>
          <a:bodyPr wrap="square">
            <a:spAutoFit/>
          </a:bodyPr>
          <a:lstStyle/>
          <a:p>
            <a:pPr>
              <a:defRPr sz="1400">
                <a:solidFill>
                  <a:srgbClr val="34495E"/>
                </a:solidFill>
              </a:defRPr>
            </a:pPr>
            <a:r>
              <a:t>Yangi mahsulotlar, xizmatlar va jarayonlarni yaratish orqali raqobatchilardan oldinda borish</a:t>
            </a:r>
          </a:p>
        </p:txBody>
      </p:sp>
      <p:sp>
        <p:nvSpPr>
          <p:cNvPr id="7" name="Rounded Rectangle 6"/>
          <p:cNvSpPr/>
          <p:nvPr/>
        </p:nvSpPr>
        <p:spPr>
          <a:xfrm>
            <a:off x="640080" y="2331720"/>
            <a:ext cx="7863840" cy="1051560"/>
          </a:xfrm>
          <a:prstGeom prst="roundRect">
            <a:avLst/>
          </a:prstGeom>
          <a:solidFill>
            <a:srgbClr val="FFFFFF"/>
          </a:solidFill>
          <a:ln w="508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23160"/>
            <a:ext cx="7315200" cy="320040"/>
          </a:xfrm>
          <a:prstGeom prst="rect">
            <a:avLst/>
          </a:prstGeom>
          <a:noFill/>
        </p:spPr>
        <p:txBody>
          <a:bodyPr wrap="none">
            <a:spAutoFit/>
          </a:bodyPr>
          <a:lstStyle/>
          <a:p>
            <a:pPr>
              <a:defRPr sz="1800" b="1">
                <a:solidFill>
                  <a:srgbClr val="2ECC71"/>
                </a:solidFill>
              </a:defRPr>
            </a:pPr>
            <a:r>
              <a:t>👥 Inson resurslari</a:t>
            </a:r>
          </a:p>
        </p:txBody>
      </p:sp>
      <p:sp>
        <p:nvSpPr>
          <p:cNvPr id="9" name="TextBox 8"/>
          <p:cNvSpPr txBox="1"/>
          <p:nvPr/>
        </p:nvSpPr>
        <p:spPr>
          <a:xfrm>
            <a:off x="914400" y="2788920"/>
            <a:ext cx="7132320" cy="548640"/>
          </a:xfrm>
          <a:prstGeom prst="rect">
            <a:avLst/>
          </a:prstGeom>
          <a:noFill/>
        </p:spPr>
        <p:txBody>
          <a:bodyPr wrap="square">
            <a:spAutoFit/>
          </a:bodyPr>
          <a:lstStyle/>
          <a:p>
            <a:pPr>
              <a:defRPr sz="1400">
                <a:solidFill>
                  <a:srgbClr val="34495E"/>
                </a:solidFill>
              </a:defRPr>
            </a:pPr>
            <a:r>
              <a:t>Malakali, motivatsiyalangan va professional xodimlar - kompaniyaning asosiy boyligi</a:t>
            </a:r>
          </a:p>
        </p:txBody>
      </p:sp>
      <p:sp>
        <p:nvSpPr>
          <p:cNvPr id="10" name="Rounded Rectangle 9"/>
          <p:cNvSpPr/>
          <p:nvPr/>
        </p:nvSpPr>
        <p:spPr>
          <a:xfrm>
            <a:off x="640080" y="3474720"/>
            <a:ext cx="7863840" cy="1051560"/>
          </a:xfrm>
          <a:prstGeom prst="roundRect">
            <a:avLst/>
          </a:prstGeom>
          <a:solidFill>
            <a:srgbClr val="FFFFFF"/>
          </a:solidFill>
          <a:ln w="508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66160"/>
            <a:ext cx="7315200" cy="320040"/>
          </a:xfrm>
          <a:prstGeom prst="rect">
            <a:avLst/>
          </a:prstGeom>
          <a:noFill/>
        </p:spPr>
        <p:txBody>
          <a:bodyPr wrap="none">
            <a:spAutoFit/>
          </a:bodyPr>
          <a:lstStyle/>
          <a:p>
            <a:pPr>
              <a:defRPr sz="1800" b="1">
                <a:solidFill>
                  <a:srgbClr val="9B59B6"/>
                </a:solidFill>
              </a:defRPr>
            </a:pPr>
            <a:r>
              <a:t>💰 Moliyaviy quvvat</a:t>
            </a:r>
          </a:p>
        </p:txBody>
      </p:sp>
      <p:sp>
        <p:nvSpPr>
          <p:cNvPr id="12" name="TextBox 11"/>
          <p:cNvSpPr txBox="1"/>
          <p:nvPr/>
        </p:nvSpPr>
        <p:spPr>
          <a:xfrm>
            <a:off x="914400" y="3931920"/>
            <a:ext cx="7132320" cy="548640"/>
          </a:xfrm>
          <a:prstGeom prst="rect">
            <a:avLst/>
          </a:prstGeom>
          <a:noFill/>
        </p:spPr>
        <p:txBody>
          <a:bodyPr wrap="square">
            <a:spAutoFit/>
          </a:bodyPr>
          <a:lstStyle/>
          <a:p>
            <a:pPr>
              <a:defRPr sz="1400">
                <a:solidFill>
                  <a:srgbClr val="34495E"/>
                </a:solidFill>
              </a:defRPr>
            </a:pPr>
            <a:r>
              <a:t>Kuchli moliyaviy asosga ega bo'lish innovatsiyalarga investitsiya qilish imkonini beradi</a:t>
            </a:r>
          </a:p>
        </p:txBody>
      </p:sp>
      <p:sp>
        <p:nvSpPr>
          <p:cNvPr id="13" name="Rounded Rectangle 12"/>
          <p:cNvSpPr/>
          <p:nvPr/>
        </p:nvSpPr>
        <p:spPr>
          <a:xfrm>
            <a:off x="640080" y="4617720"/>
            <a:ext cx="7863840" cy="1051560"/>
          </a:xfrm>
          <a:prstGeom prst="roundRect">
            <a:avLst/>
          </a:prstGeom>
          <a:solidFill>
            <a:srgbClr val="FFFFFF"/>
          </a:solidFill>
          <a:ln w="508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709159"/>
            <a:ext cx="7315200" cy="320040"/>
          </a:xfrm>
          <a:prstGeom prst="rect">
            <a:avLst/>
          </a:prstGeom>
          <a:noFill/>
        </p:spPr>
        <p:txBody>
          <a:bodyPr wrap="none">
            <a:spAutoFit/>
          </a:bodyPr>
          <a:lstStyle/>
          <a:p>
            <a:pPr>
              <a:defRPr sz="1800" b="1">
                <a:solidFill>
                  <a:srgbClr val="E74C3C"/>
                </a:solidFill>
              </a:defRPr>
            </a:pPr>
            <a:r>
              <a:t>🏭 Operatsion samaradorlik</a:t>
            </a:r>
          </a:p>
        </p:txBody>
      </p:sp>
      <p:sp>
        <p:nvSpPr>
          <p:cNvPr id="15" name="TextBox 14"/>
          <p:cNvSpPr txBox="1"/>
          <p:nvPr/>
        </p:nvSpPr>
        <p:spPr>
          <a:xfrm>
            <a:off x="914400" y="5074920"/>
            <a:ext cx="7132320" cy="548640"/>
          </a:xfrm>
          <a:prstGeom prst="rect">
            <a:avLst/>
          </a:prstGeom>
          <a:noFill/>
        </p:spPr>
        <p:txBody>
          <a:bodyPr wrap="square">
            <a:spAutoFit/>
          </a:bodyPr>
          <a:lstStyle/>
          <a:p>
            <a:pPr>
              <a:defRPr sz="1400">
                <a:solidFill>
                  <a:srgbClr val="34495E"/>
                </a:solidFill>
              </a:defRPr>
            </a:pPr>
            <a:r>
              <a:t>Samarali jarayonlar, past xarajatlar va yuqori sifat kombinatsiyasi</a:t>
            </a:r>
          </a:p>
        </p:txBody>
      </p:sp>
      <p:sp>
        <p:nvSpPr>
          <p:cNvPr id="16" name="Rounded Rectangle 15"/>
          <p:cNvSpPr/>
          <p:nvPr/>
        </p:nvSpPr>
        <p:spPr>
          <a:xfrm>
            <a:off x="640080" y="5760720"/>
            <a:ext cx="7863840" cy="1051560"/>
          </a:xfrm>
          <a:prstGeom prst="roundRect">
            <a:avLst/>
          </a:prstGeom>
          <a:solidFill>
            <a:srgbClr val="FFFFFF"/>
          </a:solidFill>
          <a:ln w="5080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852159"/>
            <a:ext cx="7315200" cy="320040"/>
          </a:xfrm>
          <a:prstGeom prst="rect">
            <a:avLst/>
          </a:prstGeom>
          <a:noFill/>
        </p:spPr>
        <p:txBody>
          <a:bodyPr wrap="none">
            <a:spAutoFit/>
          </a:bodyPr>
          <a:lstStyle/>
          <a:p>
            <a:pPr>
              <a:defRPr sz="1800" b="1">
                <a:solidFill>
                  <a:srgbClr val="F1C40F"/>
                </a:solidFill>
              </a:defRPr>
            </a:pPr>
            <a:r>
              <a:t>📊 Ma'lumotlar va analytics</a:t>
            </a:r>
          </a:p>
        </p:txBody>
      </p:sp>
      <p:sp>
        <p:nvSpPr>
          <p:cNvPr id="18" name="TextBox 17"/>
          <p:cNvSpPr txBox="1"/>
          <p:nvPr/>
        </p:nvSpPr>
        <p:spPr>
          <a:xfrm>
            <a:off x="914400" y="6217920"/>
            <a:ext cx="7132320" cy="548640"/>
          </a:xfrm>
          <a:prstGeom prst="rect">
            <a:avLst/>
          </a:prstGeom>
          <a:noFill/>
        </p:spPr>
        <p:txBody>
          <a:bodyPr wrap="square">
            <a:spAutoFit/>
          </a:bodyPr>
          <a:lstStyle/>
          <a:p>
            <a:pPr>
              <a:defRPr sz="1400">
                <a:solidFill>
                  <a:srgbClr val="34495E"/>
                </a:solidFill>
              </a:defRPr>
            </a:pPr>
            <a:r>
              <a:t>Big data va analytics yordamida to'g'ri qarorlar qabul qilish qobiliyati</a:t>
            </a:r>
          </a:p>
        </p:txBody>
      </p:sp>
      <p:sp>
        <p:nvSpPr>
          <p:cNvPr id="19" name="TextBox 18"/>
          <p:cNvSpPr txBox="1"/>
          <p:nvPr/>
        </p:nvSpPr>
        <p:spPr>
          <a:xfrm>
            <a:off x="8046720" y="457200"/>
            <a:ext cx="914400" cy="548640"/>
          </a:xfrm>
          <a:prstGeom prst="rect">
            <a:avLst/>
          </a:prstGeom>
          <a:noFill/>
        </p:spPr>
        <p:txBody>
          <a:bodyPr wrap="none">
            <a:spAutoFit/>
          </a:bodyPr>
          <a:lstStyle/>
          <a:p>
            <a:pPr>
              <a:defRPr sz="3600"/>
            </a:pPr>
            <a: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3449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822960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94360"/>
            <a:ext cx="7315200" cy="548640"/>
          </a:xfrm>
          <a:prstGeom prst="rect">
            <a:avLst/>
          </a:prstGeom>
          <a:noFill/>
        </p:spPr>
        <p:txBody>
          <a:bodyPr wrap="none">
            <a:spAutoFit/>
          </a:bodyPr>
          <a:lstStyle/>
          <a:p>
            <a:pPr algn="ctr">
              <a:defRPr sz="3200" b="1">
                <a:solidFill>
                  <a:srgbClr val="34495E"/>
                </a:solidFill>
              </a:defRPr>
            </a:pPr>
            <a:r>
              <a:t>Brend - kuchli raqobat vositasi</a:t>
            </a:r>
          </a:p>
        </p:txBody>
      </p:sp>
      <p:sp>
        <p:nvSpPr>
          <p:cNvPr id="5" name="Rounded Rectangle 4"/>
          <p:cNvSpPr/>
          <p:nvPr/>
        </p:nvSpPr>
        <p:spPr>
          <a:xfrm>
            <a:off x="731520" y="1645920"/>
            <a:ext cx="768096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28800"/>
            <a:ext cx="6949440" cy="1463040"/>
          </a:xfrm>
          <a:prstGeom prst="rect">
            <a:avLst/>
          </a:prstGeom>
          <a:noFill/>
        </p:spPr>
        <p:txBody>
          <a:bodyPr wrap="square">
            <a:spAutoFit/>
          </a:bodyPr>
          <a:lstStyle/>
          <a:p>
            <a:pPr>
              <a:lnSpc>
                <a:spcPct val="130000"/>
              </a:lnSpc>
              <a:defRPr sz="1800">
                <a:solidFill>
                  <a:srgbClr val="2C3E50"/>
                </a:solidFill>
              </a:defRPr>
            </a:pPr>
            <a:r>
              <a:t>Brend - bu kompaniya haqidagi umumiy taassurot, mijozlar bilan bog'lanish va ishonch darajasi. Kuchli brend kompaniyaga ko'plab imkoniyatlar beradi va uzoq muddatli ustunlik yaratadi.</a:t>
            </a:r>
          </a:p>
        </p:txBody>
      </p:sp>
      <p:sp>
        <p:nvSpPr>
          <p:cNvPr id="7" name="Rounded Rectangle 6"/>
          <p:cNvSpPr/>
          <p:nvPr/>
        </p:nvSpPr>
        <p:spPr>
          <a:xfrm>
            <a:off x="731520" y="3749039"/>
            <a:ext cx="7680960" cy="457200"/>
          </a:xfrm>
          <a:prstGeom prst="roundRect">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840480"/>
            <a:ext cx="7315200" cy="274320"/>
          </a:xfrm>
          <a:prstGeom prst="rect">
            <a:avLst/>
          </a:prstGeom>
          <a:noFill/>
        </p:spPr>
        <p:txBody>
          <a:bodyPr wrap="none">
            <a:spAutoFit/>
          </a:bodyPr>
          <a:lstStyle/>
          <a:p>
            <a:pPr>
              <a:defRPr sz="2000" b="1">
                <a:solidFill>
                  <a:srgbClr val="FFFFFF"/>
                </a:solidFill>
              </a:defRPr>
            </a:pPr>
            <a:r>
              <a:t>📚 TUSHUNTIRISH:</a:t>
            </a:r>
          </a:p>
        </p:txBody>
      </p:sp>
      <p:sp>
        <p:nvSpPr>
          <p:cNvPr id="9" name="Rounded Rectangle 8"/>
          <p:cNvSpPr/>
          <p:nvPr/>
        </p:nvSpPr>
        <p:spPr>
          <a:xfrm>
            <a:off x="731520" y="4297680"/>
            <a:ext cx="7680960" cy="1645920"/>
          </a:xfrm>
          <a:prstGeom prst="roundRect">
            <a:avLst/>
          </a:prstGeom>
          <a:solidFill>
            <a:srgbClr val="FFFFFF"/>
          </a:solidFill>
          <a:ln w="3810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480560"/>
            <a:ext cx="6949440" cy="1280160"/>
          </a:xfrm>
          <a:prstGeom prst="rect">
            <a:avLst/>
          </a:prstGeom>
          <a:noFill/>
        </p:spPr>
        <p:txBody>
          <a:bodyPr wrap="square">
            <a:spAutoFit/>
          </a:bodyPr>
          <a:lstStyle/>
          <a:p>
            <a:pPr>
              <a:lnSpc>
                <a:spcPct val="120000"/>
              </a:lnSpc>
              <a:defRPr sz="1600">
                <a:solidFill>
                  <a:srgbClr val="34495E"/>
                </a:solidFill>
              </a:defRPr>
            </a:pPr>
            <a:r>
              <a:t>Brendni qurish - bu uzoq jarayon. U sizdan izchillik, sifat, mijozlar bilan samimiy munosabat va o'z va'dalaringizni bajarishni talab qiladi. Kuchli brend kompaniyaga premium narxlar qo'yish, yangi bozorlarga oson kirish va raqobat sharoitida barqarorlikni ta'minlaydi.</a:t>
            </a:r>
          </a:p>
        </p:txBody>
      </p:sp>
      <p:sp>
        <p:nvSpPr>
          <p:cNvPr id="11" name="TextBox 10"/>
          <p:cNvSpPr txBox="1"/>
          <p:nvPr/>
        </p:nvSpPr>
        <p:spPr>
          <a:xfrm>
            <a:off x="7772400" y="1097280"/>
            <a:ext cx="914400" cy="731520"/>
          </a:xfrm>
          <a:prstGeom prst="rect">
            <a:avLst/>
          </a:prstGeom>
          <a:noFill/>
        </p:spPr>
        <p:txBody>
          <a:bodyPr wrap="none">
            <a:spAutoFit/>
          </a:bodyPr>
          <a:lstStyle/>
          <a:p>
            <a:pPr>
              <a:defRPr sz="4800"/>
            </a:pPr>
            <a: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822960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94360"/>
            <a:ext cx="7315200" cy="548640"/>
          </a:xfrm>
          <a:prstGeom prst="rect">
            <a:avLst/>
          </a:prstGeom>
          <a:noFill/>
        </p:spPr>
        <p:txBody>
          <a:bodyPr wrap="none">
            <a:spAutoFit/>
          </a:bodyPr>
          <a:lstStyle/>
          <a:p>
            <a:pPr algn="ctr">
              <a:defRPr sz="3200" b="1">
                <a:solidFill>
                  <a:srgbClr val="2980B9"/>
                </a:solidFill>
              </a:defRPr>
            </a:pPr>
            <a:r>
              <a:t>Innovatsiya - kelajak kaliti</a:t>
            </a:r>
          </a:p>
        </p:txBody>
      </p:sp>
      <p:sp>
        <p:nvSpPr>
          <p:cNvPr id="5" name="Rounded Rectangle 4"/>
          <p:cNvSpPr/>
          <p:nvPr/>
        </p:nvSpPr>
        <p:spPr>
          <a:xfrm>
            <a:off x="731520" y="1645920"/>
            <a:ext cx="768096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28800"/>
            <a:ext cx="6949440" cy="1463040"/>
          </a:xfrm>
          <a:prstGeom prst="rect">
            <a:avLst/>
          </a:prstGeom>
          <a:noFill/>
        </p:spPr>
        <p:txBody>
          <a:bodyPr wrap="square">
            <a:spAutoFit/>
          </a:bodyPr>
          <a:lstStyle/>
          <a:p>
            <a:pPr>
              <a:lnSpc>
                <a:spcPct val="130000"/>
              </a:lnSpc>
              <a:defRPr sz="1800">
                <a:solidFill>
                  <a:srgbClr val="2C3E50"/>
                </a:solidFill>
              </a:defRPr>
            </a:pPr>
            <a:r>
              <a:t>Zamonaviy dunyoda innovatsiyasiz kompaniya o'sishi va hatto omon qolishi mumkin emas. Bozor tez o'zgarmoqda, texnologiyalar rivojlanmoqda va mijozlar kutishlari ortmoqda.</a:t>
            </a:r>
          </a:p>
        </p:txBody>
      </p:sp>
      <p:sp>
        <p:nvSpPr>
          <p:cNvPr id="7" name="Rounded Rectangle 6"/>
          <p:cNvSpPr/>
          <p:nvPr/>
        </p:nvSpPr>
        <p:spPr>
          <a:xfrm>
            <a:off x="731520" y="3749039"/>
            <a:ext cx="7680960" cy="457200"/>
          </a:xfrm>
          <a:prstGeom prst="roundRect">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840480"/>
            <a:ext cx="7315200" cy="274320"/>
          </a:xfrm>
          <a:prstGeom prst="rect">
            <a:avLst/>
          </a:prstGeom>
          <a:noFill/>
        </p:spPr>
        <p:txBody>
          <a:bodyPr wrap="none">
            <a:spAutoFit/>
          </a:bodyPr>
          <a:lstStyle/>
          <a:p>
            <a:pPr>
              <a:defRPr sz="2000" b="1">
                <a:solidFill>
                  <a:srgbClr val="FFFFFF"/>
                </a:solidFill>
              </a:defRPr>
            </a:pPr>
            <a:r>
              <a:t>📚 TUSHUNTIRISH:</a:t>
            </a:r>
          </a:p>
        </p:txBody>
      </p:sp>
      <p:sp>
        <p:nvSpPr>
          <p:cNvPr id="9" name="Rounded Rectangle 8"/>
          <p:cNvSpPr/>
          <p:nvPr/>
        </p:nvSpPr>
        <p:spPr>
          <a:xfrm>
            <a:off x="731520" y="4297680"/>
            <a:ext cx="7680960" cy="1645920"/>
          </a:xfrm>
          <a:prstGeom prst="roundRect">
            <a:avLst/>
          </a:prstGeom>
          <a:solidFill>
            <a:srgbClr val="FFFFFF"/>
          </a:solidFill>
          <a:ln w="3810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480560"/>
            <a:ext cx="6949440" cy="1280160"/>
          </a:xfrm>
          <a:prstGeom prst="rect">
            <a:avLst/>
          </a:prstGeom>
          <a:noFill/>
        </p:spPr>
        <p:txBody>
          <a:bodyPr wrap="square">
            <a:spAutoFit/>
          </a:bodyPr>
          <a:lstStyle/>
          <a:p>
            <a:pPr>
              <a:lnSpc>
                <a:spcPct val="120000"/>
              </a:lnSpc>
              <a:defRPr sz="1600">
                <a:solidFill>
                  <a:srgbClr val="34495E"/>
                </a:solidFill>
              </a:defRPr>
            </a:pPr>
            <a:r>
              <a:t>Innovatsiya nafaqat yangi mahsulotlar yaratish, balki mavjud jarayonlarni yaxshilash, yangi biznes modellarga o'tish va mijozlar tajribasini o'zgartirish ham hisoblanadi. Innovator kompaniyalar doimo raqobatchilardan bir qadam oldinda boradilar.</a:t>
            </a:r>
          </a:p>
        </p:txBody>
      </p:sp>
      <p:sp>
        <p:nvSpPr>
          <p:cNvPr id="11" name="TextBox 10"/>
          <p:cNvSpPr txBox="1"/>
          <p:nvPr/>
        </p:nvSpPr>
        <p:spPr>
          <a:xfrm>
            <a:off x="7772400" y="1097280"/>
            <a:ext cx="914400" cy="731520"/>
          </a:xfrm>
          <a:prstGeom prst="rect">
            <a:avLst/>
          </a:prstGeom>
          <a:noFill/>
        </p:spPr>
        <p:txBody>
          <a:bodyPr wrap="none">
            <a:spAutoFit/>
          </a:bodyPr>
          <a:lstStyle/>
          <a:p>
            <a:pPr>
              <a:defRPr sz="4800"/>
            </a:pPr>
            <a: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none">
            <a:spAutoFit/>
          </a:bodyPr>
          <a:lstStyle/>
          <a:p>
            <a:pPr algn="ctr">
              <a:defRPr sz="3200" b="1">
                <a:solidFill>
                  <a:srgbClr val="FFFFFF"/>
                </a:solidFill>
              </a:defRPr>
            </a:pPr>
            <a:r>
              <a:t>Innovatsiya turlari va ularning ahamiyati</a:t>
            </a:r>
          </a:p>
        </p:txBody>
      </p:sp>
      <p:sp>
        <p:nvSpPr>
          <p:cNvPr id="4" name="Rounded Rectangle 3"/>
          <p:cNvSpPr/>
          <p:nvPr/>
        </p:nvSpPr>
        <p:spPr>
          <a:xfrm>
            <a:off x="640080" y="1188720"/>
            <a:ext cx="7863840" cy="1051560"/>
          </a:xfrm>
          <a:prstGeom prst="roundRect">
            <a:avLst/>
          </a:prstGeom>
          <a:solidFill>
            <a:srgbClr val="FFFFFF"/>
          </a:solidFill>
          <a:ln w="508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280160"/>
            <a:ext cx="7315200" cy="320040"/>
          </a:xfrm>
          <a:prstGeom prst="rect">
            <a:avLst/>
          </a:prstGeom>
          <a:noFill/>
        </p:spPr>
        <p:txBody>
          <a:bodyPr wrap="none">
            <a:spAutoFit/>
          </a:bodyPr>
          <a:lstStyle/>
          <a:p>
            <a:pPr>
              <a:defRPr sz="1800" b="1">
                <a:solidFill>
                  <a:srgbClr val="3498DB"/>
                </a:solidFill>
              </a:defRPr>
            </a:pPr>
            <a:r>
              <a:t>🚀 Mahsulot innovatsiyasi</a:t>
            </a:r>
          </a:p>
        </p:txBody>
      </p:sp>
      <p:sp>
        <p:nvSpPr>
          <p:cNvPr id="6" name="TextBox 5"/>
          <p:cNvSpPr txBox="1"/>
          <p:nvPr/>
        </p:nvSpPr>
        <p:spPr>
          <a:xfrm>
            <a:off x="914400" y="1645920"/>
            <a:ext cx="7132320" cy="548640"/>
          </a:xfrm>
          <a:prstGeom prst="rect">
            <a:avLst/>
          </a:prstGeom>
          <a:noFill/>
        </p:spPr>
        <p:txBody>
          <a:bodyPr wrap="square">
            <a:spAutoFit/>
          </a:bodyPr>
          <a:lstStyle/>
          <a:p>
            <a:pPr>
              <a:defRPr sz="1400">
                <a:solidFill>
                  <a:srgbClr val="34495E"/>
                </a:solidFill>
              </a:defRPr>
            </a:pPr>
            <a:r>
              <a:t>Yangi va yaxshilangan mahsulotlar yaratish, dizayn va funksionallikni yangilash</a:t>
            </a:r>
          </a:p>
        </p:txBody>
      </p:sp>
      <p:sp>
        <p:nvSpPr>
          <p:cNvPr id="7" name="Rounded Rectangle 6"/>
          <p:cNvSpPr/>
          <p:nvPr/>
        </p:nvSpPr>
        <p:spPr>
          <a:xfrm>
            <a:off x="640080" y="2331720"/>
            <a:ext cx="7863840" cy="1051560"/>
          </a:xfrm>
          <a:prstGeom prst="roundRect">
            <a:avLst/>
          </a:prstGeom>
          <a:solidFill>
            <a:srgbClr val="FFFFFF"/>
          </a:solidFill>
          <a:ln w="508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23160"/>
            <a:ext cx="7315200" cy="320040"/>
          </a:xfrm>
          <a:prstGeom prst="rect">
            <a:avLst/>
          </a:prstGeom>
          <a:noFill/>
        </p:spPr>
        <p:txBody>
          <a:bodyPr wrap="none">
            <a:spAutoFit/>
          </a:bodyPr>
          <a:lstStyle/>
          <a:p>
            <a:pPr>
              <a:defRPr sz="1800" b="1">
                <a:solidFill>
                  <a:srgbClr val="2ECC71"/>
                </a:solidFill>
              </a:defRPr>
            </a:pPr>
            <a:r>
              <a:t>⚙️ Jarayon innovatsiyasi</a:t>
            </a:r>
          </a:p>
        </p:txBody>
      </p:sp>
      <p:sp>
        <p:nvSpPr>
          <p:cNvPr id="9" name="TextBox 8"/>
          <p:cNvSpPr txBox="1"/>
          <p:nvPr/>
        </p:nvSpPr>
        <p:spPr>
          <a:xfrm>
            <a:off x="914400" y="2788920"/>
            <a:ext cx="7132320" cy="548640"/>
          </a:xfrm>
          <a:prstGeom prst="rect">
            <a:avLst/>
          </a:prstGeom>
          <a:noFill/>
        </p:spPr>
        <p:txBody>
          <a:bodyPr wrap="square">
            <a:spAutoFit/>
          </a:bodyPr>
          <a:lstStyle/>
          <a:p>
            <a:pPr>
              <a:defRPr sz="1400">
                <a:solidFill>
                  <a:srgbClr val="34495E"/>
                </a:solidFill>
              </a:defRPr>
            </a:pPr>
            <a:r>
              <a:t>Ishlab chiqarish va operatsion jarayonlarni optimallashtirish, avtomatlashtirish</a:t>
            </a:r>
          </a:p>
        </p:txBody>
      </p:sp>
      <p:sp>
        <p:nvSpPr>
          <p:cNvPr id="10" name="Rounded Rectangle 9"/>
          <p:cNvSpPr/>
          <p:nvPr/>
        </p:nvSpPr>
        <p:spPr>
          <a:xfrm>
            <a:off x="640080" y="3474720"/>
            <a:ext cx="7863840" cy="1051560"/>
          </a:xfrm>
          <a:prstGeom prst="roundRect">
            <a:avLst/>
          </a:prstGeom>
          <a:solidFill>
            <a:srgbClr val="FFFFFF"/>
          </a:solidFill>
          <a:ln w="508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66160"/>
            <a:ext cx="7315200" cy="320040"/>
          </a:xfrm>
          <a:prstGeom prst="rect">
            <a:avLst/>
          </a:prstGeom>
          <a:noFill/>
        </p:spPr>
        <p:txBody>
          <a:bodyPr wrap="none">
            <a:spAutoFit/>
          </a:bodyPr>
          <a:lstStyle/>
          <a:p>
            <a:pPr>
              <a:defRPr sz="1800" b="1">
                <a:solidFill>
                  <a:srgbClr val="9B59B6"/>
                </a:solidFill>
              </a:defRPr>
            </a:pPr>
            <a:r>
              <a:t>📱 Texnologik innovatsiya</a:t>
            </a:r>
          </a:p>
        </p:txBody>
      </p:sp>
      <p:sp>
        <p:nvSpPr>
          <p:cNvPr id="12" name="TextBox 11"/>
          <p:cNvSpPr txBox="1"/>
          <p:nvPr/>
        </p:nvSpPr>
        <p:spPr>
          <a:xfrm>
            <a:off x="914400" y="3931920"/>
            <a:ext cx="7132320" cy="548640"/>
          </a:xfrm>
          <a:prstGeom prst="rect">
            <a:avLst/>
          </a:prstGeom>
          <a:noFill/>
        </p:spPr>
        <p:txBody>
          <a:bodyPr wrap="square">
            <a:spAutoFit/>
          </a:bodyPr>
          <a:lstStyle/>
          <a:p>
            <a:pPr>
              <a:defRPr sz="1400">
                <a:solidFill>
                  <a:srgbClr val="34495E"/>
                </a:solidFill>
              </a:defRPr>
            </a:pPr>
            <a:r>
              <a:t>Yangi texnologiyalarni qo'llash va raqamli transformatsiya</a:t>
            </a:r>
          </a:p>
        </p:txBody>
      </p:sp>
      <p:sp>
        <p:nvSpPr>
          <p:cNvPr id="13" name="Rounded Rectangle 12"/>
          <p:cNvSpPr/>
          <p:nvPr/>
        </p:nvSpPr>
        <p:spPr>
          <a:xfrm>
            <a:off x="640080" y="4617720"/>
            <a:ext cx="7863840" cy="1051560"/>
          </a:xfrm>
          <a:prstGeom prst="roundRect">
            <a:avLst/>
          </a:prstGeom>
          <a:solidFill>
            <a:srgbClr val="FFFFFF"/>
          </a:solidFill>
          <a:ln w="508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709159"/>
            <a:ext cx="7315200" cy="320040"/>
          </a:xfrm>
          <a:prstGeom prst="rect">
            <a:avLst/>
          </a:prstGeom>
          <a:noFill/>
        </p:spPr>
        <p:txBody>
          <a:bodyPr wrap="none">
            <a:spAutoFit/>
          </a:bodyPr>
          <a:lstStyle/>
          <a:p>
            <a:pPr>
              <a:defRPr sz="1800" b="1">
                <a:solidFill>
                  <a:srgbClr val="E74C3C"/>
                </a:solidFill>
              </a:defRPr>
            </a:pPr>
            <a:r>
              <a:t>🎨 Marketing innovatsiyasi</a:t>
            </a:r>
          </a:p>
        </p:txBody>
      </p:sp>
      <p:sp>
        <p:nvSpPr>
          <p:cNvPr id="15" name="TextBox 14"/>
          <p:cNvSpPr txBox="1"/>
          <p:nvPr/>
        </p:nvSpPr>
        <p:spPr>
          <a:xfrm>
            <a:off x="914400" y="5074920"/>
            <a:ext cx="7132320" cy="548640"/>
          </a:xfrm>
          <a:prstGeom prst="rect">
            <a:avLst/>
          </a:prstGeom>
          <a:noFill/>
        </p:spPr>
        <p:txBody>
          <a:bodyPr wrap="square">
            <a:spAutoFit/>
          </a:bodyPr>
          <a:lstStyle/>
          <a:p>
            <a:pPr>
              <a:defRPr sz="1400">
                <a:solidFill>
                  <a:srgbClr val="34495E"/>
                </a:solidFill>
              </a:defRPr>
            </a:pPr>
            <a:r>
              <a:t>Yangi marketing strategiyalari, kanallar va mijozlar bilan muloqot usullari</a:t>
            </a:r>
          </a:p>
        </p:txBody>
      </p:sp>
      <p:sp>
        <p:nvSpPr>
          <p:cNvPr id="16" name="Rounded Rectangle 15"/>
          <p:cNvSpPr/>
          <p:nvPr/>
        </p:nvSpPr>
        <p:spPr>
          <a:xfrm>
            <a:off x="640080" y="5760720"/>
            <a:ext cx="7863840" cy="1051560"/>
          </a:xfrm>
          <a:prstGeom prst="roundRect">
            <a:avLst/>
          </a:prstGeom>
          <a:solidFill>
            <a:srgbClr val="FFFFFF"/>
          </a:solidFill>
          <a:ln w="5080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852159"/>
            <a:ext cx="7315200" cy="320040"/>
          </a:xfrm>
          <a:prstGeom prst="rect">
            <a:avLst/>
          </a:prstGeom>
          <a:noFill/>
        </p:spPr>
        <p:txBody>
          <a:bodyPr wrap="none">
            <a:spAutoFit/>
          </a:bodyPr>
          <a:lstStyle/>
          <a:p>
            <a:pPr>
              <a:defRPr sz="1800" b="1">
                <a:solidFill>
                  <a:srgbClr val="F1C40F"/>
                </a:solidFill>
              </a:defRPr>
            </a:pPr>
            <a:r>
              <a:t>🔄 Biznes model innovatsiyasi</a:t>
            </a:r>
          </a:p>
        </p:txBody>
      </p:sp>
      <p:sp>
        <p:nvSpPr>
          <p:cNvPr id="18" name="TextBox 17"/>
          <p:cNvSpPr txBox="1"/>
          <p:nvPr/>
        </p:nvSpPr>
        <p:spPr>
          <a:xfrm>
            <a:off x="914400" y="6217920"/>
            <a:ext cx="7132320" cy="548640"/>
          </a:xfrm>
          <a:prstGeom prst="rect">
            <a:avLst/>
          </a:prstGeom>
          <a:noFill/>
        </p:spPr>
        <p:txBody>
          <a:bodyPr wrap="square">
            <a:spAutoFit/>
          </a:bodyPr>
          <a:lstStyle/>
          <a:p>
            <a:pPr>
              <a:defRPr sz="1400">
                <a:solidFill>
                  <a:srgbClr val="34495E"/>
                </a:solidFill>
              </a:defRPr>
            </a:pPr>
            <a:r>
              <a:t>Butunlay yangi biznes modellarini yaratish va joriy etish</a:t>
            </a:r>
          </a:p>
        </p:txBody>
      </p:sp>
      <p:sp>
        <p:nvSpPr>
          <p:cNvPr id="19" name="TextBox 18"/>
          <p:cNvSpPr txBox="1"/>
          <p:nvPr/>
        </p:nvSpPr>
        <p:spPr>
          <a:xfrm>
            <a:off x="8046720" y="457200"/>
            <a:ext cx="914400" cy="548640"/>
          </a:xfrm>
          <a:prstGeom prst="rect">
            <a:avLst/>
          </a:prstGeom>
          <a:noFill/>
        </p:spPr>
        <p:txBody>
          <a:bodyPr wrap="none">
            <a:spAutoFit/>
          </a:bodyPr>
          <a:lstStyle/>
          <a:p>
            <a:pPr>
              <a:defRPr sz="3600"/>
            </a:pPr>
            <a: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822960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94360"/>
            <a:ext cx="7315200" cy="548640"/>
          </a:xfrm>
          <a:prstGeom prst="rect">
            <a:avLst/>
          </a:prstGeom>
          <a:noFill/>
        </p:spPr>
        <p:txBody>
          <a:bodyPr wrap="none">
            <a:spAutoFit/>
          </a:bodyPr>
          <a:lstStyle/>
          <a:p>
            <a:pPr algn="ctr">
              <a:defRPr sz="3200" b="1">
                <a:solidFill>
                  <a:srgbClr val="E74C3C"/>
                </a:solidFill>
              </a:defRPr>
            </a:pPr>
            <a:r>
              <a:t>Mijozlarga yo'naltirilgan strategiya</a:t>
            </a:r>
          </a:p>
        </p:txBody>
      </p:sp>
      <p:sp>
        <p:nvSpPr>
          <p:cNvPr id="5" name="Rounded Rectangle 4"/>
          <p:cNvSpPr/>
          <p:nvPr/>
        </p:nvSpPr>
        <p:spPr>
          <a:xfrm>
            <a:off x="731520" y="1645920"/>
            <a:ext cx="768096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28800"/>
            <a:ext cx="6949440" cy="1463040"/>
          </a:xfrm>
          <a:prstGeom prst="rect">
            <a:avLst/>
          </a:prstGeom>
          <a:noFill/>
        </p:spPr>
        <p:txBody>
          <a:bodyPr wrap="square">
            <a:spAutoFit/>
          </a:bodyPr>
          <a:lstStyle/>
          <a:p>
            <a:pPr>
              <a:lnSpc>
                <a:spcPct val="130000"/>
              </a:lnSpc>
              <a:defRPr sz="1800">
                <a:solidFill>
                  <a:srgbClr val="2C3E50"/>
                </a:solidFill>
              </a:defRPr>
            </a:pPr>
            <a:r>
              <a:t>Mijozlar - har qanday biznesning markazi. Mijozlarga yo'naltirilgan kompaniyalar o'z mijozlarining ehtiyojlari, istakları va muammolarini chuqur tushunadilar va ular uchun maksimal qiymat yaratishga harakat qiladilar.</a:t>
            </a:r>
          </a:p>
        </p:txBody>
      </p:sp>
      <p:sp>
        <p:nvSpPr>
          <p:cNvPr id="7" name="Rounded Rectangle 6"/>
          <p:cNvSpPr/>
          <p:nvPr/>
        </p:nvSpPr>
        <p:spPr>
          <a:xfrm>
            <a:off x="731520" y="3749039"/>
            <a:ext cx="7680960" cy="457200"/>
          </a:xfrm>
          <a:prstGeom prst="roundRect">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840480"/>
            <a:ext cx="7315200" cy="274320"/>
          </a:xfrm>
          <a:prstGeom prst="rect">
            <a:avLst/>
          </a:prstGeom>
          <a:noFill/>
        </p:spPr>
        <p:txBody>
          <a:bodyPr wrap="none">
            <a:spAutoFit/>
          </a:bodyPr>
          <a:lstStyle/>
          <a:p>
            <a:pPr>
              <a:defRPr sz="2000" b="1">
                <a:solidFill>
                  <a:srgbClr val="FFFFFF"/>
                </a:solidFill>
              </a:defRPr>
            </a:pPr>
            <a:r>
              <a:t>📚 TUSHUNTIRISH:</a:t>
            </a:r>
          </a:p>
        </p:txBody>
      </p:sp>
      <p:sp>
        <p:nvSpPr>
          <p:cNvPr id="9" name="Rounded Rectangle 8"/>
          <p:cNvSpPr/>
          <p:nvPr/>
        </p:nvSpPr>
        <p:spPr>
          <a:xfrm>
            <a:off x="731520" y="4297680"/>
            <a:ext cx="7680960" cy="1645920"/>
          </a:xfrm>
          <a:prstGeom prst="roundRect">
            <a:avLst/>
          </a:prstGeom>
          <a:solidFill>
            <a:srgbClr val="FFFFFF"/>
          </a:solidFill>
          <a:ln w="3810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480560"/>
            <a:ext cx="6949440" cy="1280160"/>
          </a:xfrm>
          <a:prstGeom prst="rect">
            <a:avLst/>
          </a:prstGeom>
          <a:noFill/>
        </p:spPr>
        <p:txBody>
          <a:bodyPr wrap="square">
            <a:spAutoFit/>
          </a:bodyPr>
          <a:lstStyle/>
          <a:p>
            <a:pPr>
              <a:lnSpc>
                <a:spcPct val="120000"/>
              </a:lnSpc>
              <a:defRPr sz="1600">
                <a:solidFill>
                  <a:srgbClr val="34495E"/>
                </a:solidFill>
              </a:defRPr>
            </a:pPr>
            <a:r>
              <a:t>Bu yondashuv shunchaki yaxshi xizmat ko'rsatish emas. Bu butun kompaniya madaniyati, jarayonlar va qarorlarni mijozlar nuqtai nazaridan ko'rish demakdir. Mijozlarga yo'naltirilgan kompaniyalar yuqori sodiqlik, takroriy sotuvlar va ijobiy tavsiyalar oladi.</a:t>
            </a:r>
          </a:p>
        </p:txBody>
      </p:sp>
      <p:sp>
        <p:nvSpPr>
          <p:cNvPr id="11" name="TextBox 10"/>
          <p:cNvSpPr txBox="1"/>
          <p:nvPr/>
        </p:nvSpPr>
        <p:spPr>
          <a:xfrm>
            <a:off x="7772400" y="1097280"/>
            <a:ext cx="914400" cy="731520"/>
          </a:xfrm>
          <a:prstGeom prst="rect">
            <a:avLst/>
          </a:prstGeom>
          <a:noFill/>
        </p:spPr>
        <p:txBody>
          <a:bodyPr wrap="none">
            <a:spAutoFit/>
          </a:bodyPr>
          <a:lstStyle/>
          <a:p>
            <a:pPr>
              <a:defRPr sz="4800"/>
            </a:pPr>
            <a: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none">
            <a:spAutoFit/>
          </a:bodyPr>
          <a:lstStyle/>
          <a:p>
            <a:pPr algn="ctr">
              <a:defRPr sz="3200" b="1">
                <a:solidFill>
                  <a:srgbClr val="FFFFFF"/>
                </a:solidFill>
              </a:defRPr>
            </a:pPr>
            <a:r>
              <a:t>Raqamli transformatsiya - zaruryat</a:t>
            </a:r>
          </a:p>
        </p:txBody>
      </p:sp>
      <p:sp>
        <p:nvSpPr>
          <p:cNvPr id="4" name="Rounded Rectangle 3"/>
          <p:cNvSpPr/>
          <p:nvPr/>
        </p:nvSpPr>
        <p:spPr>
          <a:xfrm>
            <a:off x="640080" y="1188720"/>
            <a:ext cx="7863840" cy="1051560"/>
          </a:xfrm>
          <a:prstGeom prst="roundRect">
            <a:avLst/>
          </a:prstGeom>
          <a:solidFill>
            <a:srgbClr val="FFFFFF"/>
          </a:solidFill>
          <a:ln w="508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280160"/>
            <a:ext cx="7315200" cy="320040"/>
          </a:xfrm>
          <a:prstGeom prst="rect">
            <a:avLst/>
          </a:prstGeom>
          <a:noFill/>
        </p:spPr>
        <p:txBody>
          <a:bodyPr wrap="none">
            <a:spAutoFit/>
          </a:bodyPr>
          <a:lstStyle/>
          <a:p>
            <a:pPr>
              <a:defRPr sz="1800" b="1">
                <a:solidFill>
                  <a:srgbClr val="3498DB"/>
                </a:solidFill>
              </a:defRPr>
            </a:pPr>
            <a:r>
              <a:t>💻 Cloud texnologiyalar</a:t>
            </a:r>
          </a:p>
        </p:txBody>
      </p:sp>
      <p:sp>
        <p:nvSpPr>
          <p:cNvPr id="6" name="TextBox 5"/>
          <p:cNvSpPr txBox="1"/>
          <p:nvPr/>
        </p:nvSpPr>
        <p:spPr>
          <a:xfrm>
            <a:off x="914400" y="1645920"/>
            <a:ext cx="7132320" cy="548640"/>
          </a:xfrm>
          <a:prstGeom prst="rect">
            <a:avLst/>
          </a:prstGeom>
          <a:noFill/>
        </p:spPr>
        <p:txBody>
          <a:bodyPr wrap="square">
            <a:spAutoFit/>
          </a:bodyPr>
          <a:lstStyle/>
          <a:p>
            <a:pPr>
              <a:defRPr sz="1400">
                <a:solidFill>
                  <a:srgbClr val="34495E"/>
                </a:solidFill>
              </a:defRPr>
            </a:pPr>
            <a:r>
              <a:t>Moslashuvchanlik, samaradorlik va xarajatlarni kamaytirish imkoniyati</a:t>
            </a:r>
          </a:p>
        </p:txBody>
      </p:sp>
      <p:sp>
        <p:nvSpPr>
          <p:cNvPr id="7" name="Rounded Rectangle 6"/>
          <p:cNvSpPr/>
          <p:nvPr/>
        </p:nvSpPr>
        <p:spPr>
          <a:xfrm>
            <a:off x="640080" y="2331720"/>
            <a:ext cx="7863840" cy="1051560"/>
          </a:xfrm>
          <a:prstGeom prst="roundRect">
            <a:avLst/>
          </a:prstGeom>
          <a:solidFill>
            <a:srgbClr val="FFFFFF"/>
          </a:solidFill>
          <a:ln w="508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23160"/>
            <a:ext cx="7315200" cy="320040"/>
          </a:xfrm>
          <a:prstGeom prst="rect">
            <a:avLst/>
          </a:prstGeom>
          <a:noFill/>
        </p:spPr>
        <p:txBody>
          <a:bodyPr wrap="none">
            <a:spAutoFit/>
          </a:bodyPr>
          <a:lstStyle/>
          <a:p>
            <a:pPr>
              <a:defRPr sz="1800" b="1">
                <a:solidFill>
                  <a:srgbClr val="2ECC71"/>
                </a:solidFill>
              </a:defRPr>
            </a:pPr>
            <a:r>
              <a:t>🤖 Sun'iy intellekt va ML</a:t>
            </a:r>
          </a:p>
        </p:txBody>
      </p:sp>
      <p:sp>
        <p:nvSpPr>
          <p:cNvPr id="9" name="TextBox 8"/>
          <p:cNvSpPr txBox="1"/>
          <p:nvPr/>
        </p:nvSpPr>
        <p:spPr>
          <a:xfrm>
            <a:off x="914400" y="2788920"/>
            <a:ext cx="7132320" cy="548640"/>
          </a:xfrm>
          <a:prstGeom prst="rect">
            <a:avLst/>
          </a:prstGeom>
          <a:noFill/>
        </p:spPr>
        <p:txBody>
          <a:bodyPr wrap="square">
            <a:spAutoFit/>
          </a:bodyPr>
          <a:lstStyle/>
          <a:p>
            <a:pPr>
              <a:defRPr sz="1400">
                <a:solidFill>
                  <a:srgbClr val="34495E"/>
                </a:solidFill>
              </a:defRPr>
            </a:pPr>
            <a:r>
              <a:t>Avtomatlashtirish, bashorat qilish va qarorlarni optimallashtirish</a:t>
            </a:r>
          </a:p>
        </p:txBody>
      </p:sp>
      <p:sp>
        <p:nvSpPr>
          <p:cNvPr id="10" name="Rounded Rectangle 9"/>
          <p:cNvSpPr/>
          <p:nvPr/>
        </p:nvSpPr>
        <p:spPr>
          <a:xfrm>
            <a:off x="640080" y="3474720"/>
            <a:ext cx="7863840" cy="1051560"/>
          </a:xfrm>
          <a:prstGeom prst="roundRect">
            <a:avLst/>
          </a:prstGeom>
          <a:solidFill>
            <a:srgbClr val="FFFFFF"/>
          </a:solidFill>
          <a:ln w="508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66160"/>
            <a:ext cx="7315200" cy="320040"/>
          </a:xfrm>
          <a:prstGeom prst="rect">
            <a:avLst/>
          </a:prstGeom>
          <a:noFill/>
        </p:spPr>
        <p:txBody>
          <a:bodyPr wrap="none">
            <a:spAutoFit/>
          </a:bodyPr>
          <a:lstStyle/>
          <a:p>
            <a:pPr>
              <a:defRPr sz="1800" b="1">
                <a:solidFill>
                  <a:srgbClr val="9B59B6"/>
                </a:solidFill>
              </a:defRPr>
            </a:pPr>
            <a:r>
              <a:t>📱 Mobil-first yondashuv</a:t>
            </a:r>
          </a:p>
        </p:txBody>
      </p:sp>
      <p:sp>
        <p:nvSpPr>
          <p:cNvPr id="12" name="TextBox 11"/>
          <p:cNvSpPr txBox="1"/>
          <p:nvPr/>
        </p:nvSpPr>
        <p:spPr>
          <a:xfrm>
            <a:off x="914400" y="3931920"/>
            <a:ext cx="7132320" cy="548640"/>
          </a:xfrm>
          <a:prstGeom prst="rect">
            <a:avLst/>
          </a:prstGeom>
          <a:noFill/>
        </p:spPr>
        <p:txBody>
          <a:bodyPr wrap="square">
            <a:spAutoFit/>
          </a:bodyPr>
          <a:lstStyle/>
          <a:p>
            <a:pPr>
              <a:defRPr sz="1400">
                <a:solidFill>
                  <a:srgbClr val="34495E"/>
                </a:solidFill>
              </a:defRPr>
            </a:pPr>
            <a:r>
              <a:t>Mijozlar uchun qulay mobil tajriba yaratish</a:t>
            </a:r>
          </a:p>
        </p:txBody>
      </p:sp>
      <p:sp>
        <p:nvSpPr>
          <p:cNvPr id="13" name="Rounded Rectangle 12"/>
          <p:cNvSpPr/>
          <p:nvPr/>
        </p:nvSpPr>
        <p:spPr>
          <a:xfrm>
            <a:off x="640080" y="4617720"/>
            <a:ext cx="7863840" cy="1051560"/>
          </a:xfrm>
          <a:prstGeom prst="roundRect">
            <a:avLst/>
          </a:prstGeom>
          <a:solidFill>
            <a:srgbClr val="FFFFFF"/>
          </a:solidFill>
          <a:ln w="508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709159"/>
            <a:ext cx="7315200" cy="320040"/>
          </a:xfrm>
          <a:prstGeom prst="rect">
            <a:avLst/>
          </a:prstGeom>
          <a:noFill/>
        </p:spPr>
        <p:txBody>
          <a:bodyPr wrap="none">
            <a:spAutoFit/>
          </a:bodyPr>
          <a:lstStyle/>
          <a:p>
            <a:pPr>
              <a:defRPr sz="1800" b="1">
                <a:solidFill>
                  <a:srgbClr val="E74C3C"/>
                </a:solidFill>
              </a:defRPr>
            </a:pPr>
            <a:r>
              <a:t>🔐 Kiberxavfsizlik</a:t>
            </a:r>
          </a:p>
        </p:txBody>
      </p:sp>
      <p:sp>
        <p:nvSpPr>
          <p:cNvPr id="15" name="TextBox 14"/>
          <p:cNvSpPr txBox="1"/>
          <p:nvPr/>
        </p:nvSpPr>
        <p:spPr>
          <a:xfrm>
            <a:off x="914400" y="5074920"/>
            <a:ext cx="7132320" cy="548640"/>
          </a:xfrm>
          <a:prstGeom prst="rect">
            <a:avLst/>
          </a:prstGeom>
          <a:noFill/>
        </p:spPr>
        <p:txBody>
          <a:bodyPr wrap="square">
            <a:spAutoFit/>
          </a:bodyPr>
          <a:lstStyle/>
          <a:p>
            <a:pPr>
              <a:defRPr sz="1400">
                <a:solidFill>
                  <a:srgbClr val="34495E"/>
                </a:solidFill>
              </a:defRPr>
            </a:pPr>
            <a:r>
              <a:t>Ma'lumotlar himoyasi va mijozlar ishonchini ta'minlash</a:t>
            </a:r>
          </a:p>
        </p:txBody>
      </p:sp>
      <p:sp>
        <p:nvSpPr>
          <p:cNvPr id="16" name="Rounded Rectangle 15"/>
          <p:cNvSpPr/>
          <p:nvPr/>
        </p:nvSpPr>
        <p:spPr>
          <a:xfrm>
            <a:off x="640080" y="5760720"/>
            <a:ext cx="7863840" cy="1051560"/>
          </a:xfrm>
          <a:prstGeom prst="roundRect">
            <a:avLst/>
          </a:prstGeom>
          <a:solidFill>
            <a:srgbClr val="FFFFFF"/>
          </a:solidFill>
          <a:ln w="5080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852159"/>
            <a:ext cx="7315200" cy="320040"/>
          </a:xfrm>
          <a:prstGeom prst="rect">
            <a:avLst/>
          </a:prstGeom>
          <a:noFill/>
        </p:spPr>
        <p:txBody>
          <a:bodyPr wrap="none">
            <a:spAutoFit/>
          </a:bodyPr>
          <a:lstStyle/>
          <a:p>
            <a:pPr>
              <a:defRPr sz="1800" b="1">
                <a:solidFill>
                  <a:srgbClr val="F1C40F"/>
                </a:solidFill>
              </a:defRPr>
            </a:pPr>
            <a:r>
              <a:t>📊 Data Analytics</a:t>
            </a:r>
          </a:p>
        </p:txBody>
      </p:sp>
      <p:sp>
        <p:nvSpPr>
          <p:cNvPr id="18" name="TextBox 17"/>
          <p:cNvSpPr txBox="1"/>
          <p:nvPr/>
        </p:nvSpPr>
        <p:spPr>
          <a:xfrm>
            <a:off x="914400" y="6217920"/>
            <a:ext cx="7132320" cy="548640"/>
          </a:xfrm>
          <a:prstGeom prst="rect">
            <a:avLst/>
          </a:prstGeom>
          <a:noFill/>
        </p:spPr>
        <p:txBody>
          <a:bodyPr wrap="square">
            <a:spAutoFit/>
          </a:bodyPr>
          <a:lstStyle/>
          <a:p>
            <a:pPr>
              <a:defRPr sz="1400">
                <a:solidFill>
                  <a:srgbClr val="34495E"/>
                </a:solidFill>
              </a:defRPr>
            </a:pPr>
            <a:r>
              <a:t>Ma'lumotlarga asoslangan qarorlar qabul qilish va biznesni optimallashtirish</a:t>
            </a:r>
          </a:p>
        </p:txBody>
      </p:sp>
      <p:sp>
        <p:nvSpPr>
          <p:cNvPr id="19" name="TextBox 18"/>
          <p:cNvSpPr txBox="1"/>
          <p:nvPr/>
        </p:nvSpPr>
        <p:spPr>
          <a:xfrm>
            <a:off x="8046720" y="457200"/>
            <a:ext cx="914400" cy="548640"/>
          </a:xfrm>
          <a:prstGeom prst="rect">
            <a:avLst/>
          </a:prstGeom>
          <a:noFill/>
        </p:spPr>
        <p:txBody>
          <a:bodyPr wrap="none">
            <a:spAutoFit/>
          </a:bodyPr>
          <a:lstStyle/>
          <a:p>
            <a:pPr>
              <a:defRPr sz="3600"/>
            </a:pPr>
            <a: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822960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94360"/>
            <a:ext cx="7315200" cy="548640"/>
          </a:xfrm>
          <a:prstGeom prst="rect">
            <a:avLst/>
          </a:prstGeom>
          <a:noFill/>
        </p:spPr>
        <p:txBody>
          <a:bodyPr wrap="none">
            <a:spAutoFit/>
          </a:bodyPr>
          <a:lstStyle/>
          <a:p>
            <a:pPr algn="ctr">
              <a:defRPr sz="3200" b="1">
                <a:solidFill>
                  <a:srgbClr val="2ECC71"/>
                </a:solidFill>
              </a:defRPr>
            </a:pPr>
            <a:r>
              <a:t>Sifat - barcha narsaning asosi</a:t>
            </a:r>
          </a:p>
        </p:txBody>
      </p:sp>
      <p:sp>
        <p:nvSpPr>
          <p:cNvPr id="5" name="Rounded Rectangle 4"/>
          <p:cNvSpPr/>
          <p:nvPr/>
        </p:nvSpPr>
        <p:spPr>
          <a:xfrm>
            <a:off x="731520" y="1645920"/>
            <a:ext cx="768096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28800"/>
            <a:ext cx="6949440" cy="1463040"/>
          </a:xfrm>
          <a:prstGeom prst="rect">
            <a:avLst/>
          </a:prstGeom>
          <a:noFill/>
        </p:spPr>
        <p:txBody>
          <a:bodyPr wrap="square">
            <a:spAutoFit/>
          </a:bodyPr>
          <a:lstStyle/>
          <a:p>
            <a:pPr>
              <a:lnSpc>
                <a:spcPct val="130000"/>
              </a:lnSpc>
              <a:defRPr sz="1800">
                <a:solidFill>
                  <a:srgbClr val="2C3E50"/>
                </a:solidFill>
              </a:defRPr>
            </a:pPr>
            <a:r>
              <a:t>Sifat - bu kompaniyaning reputatsiyasi, brendi va uzoq muddatli muvaffaqiyatining asosi. Yuqori sifat mijozlar sodiqligini ta'minlaydi, qayta sotuvlarni oshiradi va ijobiy tavsiyalar yaratadi.</a:t>
            </a:r>
          </a:p>
        </p:txBody>
      </p:sp>
      <p:sp>
        <p:nvSpPr>
          <p:cNvPr id="7" name="Rounded Rectangle 6"/>
          <p:cNvSpPr/>
          <p:nvPr/>
        </p:nvSpPr>
        <p:spPr>
          <a:xfrm>
            <a:off x="731520" y="3749039"/>
            <a:ext cx="7680960" cy="457200"/>
          </a:xfrm>
          <a:prstGeom prst="roundRect">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840480"/>
            <a:ext cx="7315200" cy="274320"/>
          </a:xfrm>
          <a:prstGeom prst="rect">
            <a:avLst/>
          </a:prstGeom>
          <a:noFill/>
        </p:spPr>
        <p:txBody>
          <a:bodyPr wrap="none">
            <a:spAutoFit/>
          </a:bodyPr>
          <a:lstStyle/>
          <a:p>
            <a:pPr>
              <a:defRPr sz="2000" b="1">
                <a:solidFill>
                  <a:srgbClr val="FFFFFF"/>
                </a:solidFill>
              </a:defRPr>
            </a:pPr>
            <a:r>
              <a:t>📚 TUSHUNTIRISH:</a:t>
            </a:r>
          </a:p>
        </p:txBody>
      </p:sp>
      <p:sp>
        <p:nvSpPr>
          <p:cNvPr id="9" name="Rounded Rectangle 8"/>
          <p:cNvSpPr/>
          <p:nvPr/>
        </p:nvSpPr>
        <p:spPr>
          <a:xfrm>
            <a:off x="731520" y="4297680"/>
            <a:ext cx="7680960" cy="1645920"/>
          </a:xfrm>
          <a:prstGeom prst="roundRect">
            <a:avLst/>
          </a:prstGeom>
          <a:solidFill>
            <a:srgbClr val="FFFFFF"/>
          </a:solidFill>
          <a:ln w="3810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480560"/>
            <a:ext cx="6949440" cy="1280160"/>
          </a:xfrm>
          <a:prstGeom prst="rect">
            <a:avLst/>
          </a:prstGeom>
          <a:noFill/>
        </p:spPr>
        <p:txBody>
          <a:bodyPr wrap="square">
            <a:spAutoFit/>
          </a:bodyPr>
          <a:lstStyle/>
          <a:p>
            <a:pPr>
              <a:lnSpc>
                <a:spcPct val="120000"/>
              </a:lnSpc>
              <a:defRPr sz="1600">
                <a:solidFill>
                  <a:srgbClr val="34495E"/>
                </a:solidFill>
              </a:defRPr>
            </a:pPr>
            <a:r>
              <a:t>Sifatni ta'minlash - bu tizimli yondashuv. Bu standartlar, jarayonlar, nazorat tizimlari va doimiy yaxshilanishni o'z ichiga oladi. ISO sertifikatlari, sifat menejment tizimi va xodimlarni o'qitish - sifatli mahsulot va xizmatlarning asosiy komponentlari.</a:t>
            </a:r>
          </a:p>
        </p:txBody>
      </p:sp>
      <p:sp>
        <p:nvSpPr>
          <p:cNvPr id="11" name="TextBox 10"/>
          <p:cNvSpPr txBox="1"/>
          <p:nvPr/>
        </p:nvSpPr>
        <p:spPr>
          <a:xfrm>
            <a:off x="7772400" y="1097280"/>
            <a:ext cx="914400" cy="731520"/>
          </a:xfrm>
          <a:prstGeom prst="rect">
            <a:avLst/>
          </a:prstGeom>
          <a:noFill/>
        </p:spPr>
        <p:txBody>
          <a:bodyPr wrap="none">
            <a:spAutoFit/>
          </a:bodyPr>
          <a:lstStyle/>
          <a:p>
            <a:pPr>
              <a:defRPr sz="4800"/>
            </a:pPr>
            <a: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none">
            <a:spAutoFit/>
          </a:bodyPr>
          <a:lstStyle/>
          <a:p>
            <a:pPr algn="ctr">
              <a:defRPr sz="3200" b="1">
                <a:solidFill>
                  <a:srgbClr val="FFFFFF"/>
                </a:solidFill>
              </a:defRPr>
            </a:pPr>
            <a:r>
              <a:t>Muvaffaqiyatli kompaniyalar va ularning sirları</a:t>
            </a:r>
          </a:p>
        </p:txBody>
      </p:sp>
      <p:sp>
        <p:nvSpPr>
          <p:cNvPr id="4" name="Rounded Rectangle 3"/>
          <p:cNvSpPr/>
          <p:nvPr/>
        </p:nvSpPr>
        <p:spPr>
          <a:xfrm>
            <a:off x="640080" y="1188720"/>
            <a:ext cx="7863840" cy="1051560"/>
          </a:xfrm>
          <a:prstGeom prst="roundRect">
            <a:avLst/>
          </a:prstGeom>
          <a:solidFill>
            <a:srgbClr val="FFFFFF"/>
          </a:solidFill>
          <a:ln w="508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280160"/>
            <a:ext cx="7315200" cy="320040"/>
          </a:xfrm>
          <a:prstGeom prst="rect">
            <a:avLst/>
          </a:prstGeom>
          <a:noFill/>
        </p:spPr>
        <p:txBody>
          <a:bodyPr wrap="none">
            <a:spAutoFit/>
          </a:bodyPr>
          <a:lstStyle/>
          <a:p>
            <a:pPr>
              <a:defRPr sz="1800" b="1">
                <a:solidFill>
                  <a:srgbClr val="3498DB"/>
                </a:solidFill>
              </a:defRPr>
            </a:pPr>
            <a:r>
              <a:t>🍎 Apple Inc.</a:t>
            </a:r>
          </a:p>
        </p:txBody>
      </p:sp>
      <p:sp>
        <p:nvSpPr>
          <p:cNvPr id="6" name="TextBox 5"/>
          <p:cNvSpPr txBox="1"/>
          <p:nvPr/>
        </p:nvSpPr>
        <p:spPr>
          <a:xfrm>
            <a:off x="914400" y="1645920"/>
            <a:ext cx="7132320" cy="548640"/>
          </a:xfrm>
          <a:prstGeom prst="rect">
            <a:avLst/>
          </a:prstGeom>
          <a:noFill/>
        </p:spPr>
        <p:txBody>
          <a:bodyPr wrap="square">
            <a:spAutoFit/>
          </a:bodyPr>
          <a:lstStyle/>
          <a:p>
            <a:pPr>
              <a:defRPr sz="1400">
                <a:solidFill>
                  <a:srgbClr val="34495E"/>
                </a:solidFill>
              </a:defRPr>
            </a:pPr>
            <a:r>
              <a:t>Innovatsiya, dizayn va premium brend orqali raqobat ustunligi</a:t>
            </a:r>
          </a:p>
        </p:txBody>
      </p:sp>
      <p:sp>
        <p:nvSpPr>
          <p:cNvPr id="7" name="Rounded Rectangle 6"/>
          <p:cNvSpPr/>
          <p:nvPr/>
        </p:nvSpPr>
        <p:spPr>
          <a:xfrm>
            <a:off x="640080" y="2331720"/>
            <a:ext cx="7863840" cy="1051560"/>
          </a:xfrm>
          <a:prstGeom prst="roundRect">
            <a:avLst/>
          </a:prstGeom>
          <a:solidFill>
            <a:srgbClr val="FFFFFF"/>
          </a:solidFill>
          <a:ln w="50800">
            <a:solidFill>
              <a:srgbClr val="2ECC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23160"/>
            <a:ext cx="7315200" cy="320040"/>
          </a:xfrm>
          <a:prstGeom prst="rect">
            <a:avLst/>
          </a:prstGeom>
          <a:noFill/>
        </p:spPr>
        <p:txBody>
          <a:bodyPr wrap="none">
            <a:spAutoFit/>
          </a:bodyPr>
          <a:lstStyle/>
          <a:p>
            <a:pPr>
              <a:defRPr sz="1800" b="1">
                <a:solidFill>
                  <a:srgbClr val="2ECC71"/>
                </a:solidFill>
              </a:defRPr>
            </a:pPr>
            <a:r>
              <a:t>📦 Amazon</a:t>
            </a:r>
          </a:p>
        </p:txBody>
      </p:sp>
      <p:sp>
        <p:nvSpPr>
          <p:cNvPr id="9" name="TextBox 8"/>
          <p:cNvSpPr txBox="1"/>
          <p:nvPr/>
        </p:nvSpPr>
        <p:spPr>
          <a:xfrm>
            <a:off x="914400" y="2788920"/>
            <a:ext cx="7132320" cy="548640"/>
          </a:xfrm>
          <a:prstGeom prst="rect">
            <a:avLst/>
          </a:prstGeom>
          <a:noFill/>
        </p:spPr>
        <p:txBody>
          <a:bodyPr wrap="square">
            <a:spAutoFit/>
          </a:bodyPr>
          <a:lstStyle/>
          <a:p>
            <a:pPr>
              <a:defRPr sz="1400">
                <a:solidFill>
                  <a:srgbClr val="34495E"/>
                </a:solidFill>
              </a:defRPr>
            </a:pPr>
            <a:r>
              <a:t>Mijozlar tajribasi, logistika va texnologiya orqali bozor lideri</a:t>
            </a:r>
          </a:p>
        </p:txBody>
      </p:sp>
      <p:sp>
        <p:nvSpPr>
          <p:cNvPr id="10" name="Rounded Rectangle 9"/>
          <p:cNvSpPr/>
          <p:nvPr/>
        </p:nvSpPr>
        <p:spPr>
          <a:xfrm>
            <a:off x="640080" y="3474720"/>
            <a:ext cx="7863840" cy="1051560"/>
          </a:xfrm>
          <a:prstGeom prst="roundRect">
            <a:avLst/>
          </a:prstGeom>
          <a:solidFill>
            <a:srgbClr val="FFFFFF"/>
          </a:solidFill>
          <a:ln w="508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66160"/>
            <a:ext cx="7315200" cy="320040"/>
          </a:xfrm>
          <a:prstGeom prst="rect">
            <a:avLst/>
          </a:prstGeom>
          <a:noFill/>
        </p:spPr>
        <p:txBody>
          <a:bodyPr wrap="none">
            <a:spAutoFit/>
          </a:bodyPr>
          <a:lstStyle/>
          <a:p>
            <a:pPr>
              <a:defRPr sz="1800" b="1">
                <a:solidFill>
                  <a:srgbClr val="9B59B6"/>
                </a:solidFill>
              </a:defRPr>
            </a:pPr>
            <a:r>
              <a:t>☕ Starbucks</a:t>
            </a:r>
          </a:p>
        </p:txBody>
      </p:sp>
      <p:sp>
        <p:nvSpPr>
          <p:cNvPr id="12" name="TextBox 11"/>
          <p:cNvSpPr txBox="1"/>
          <p:nvPr/>
        </p:nvSpPr>
        <p:spPr>
          <a:xfrm>
            <a:off x="914400" y="3931920"/>
            <a:ext cx="7132320" cy="548640"/>
          </a:xfrm>
          <a:prstGeom prst="rect">
            <a:avLst/>
          </a:prstGeom>
          <a:noFill/>
        </p:spPr>
        <p:txBody>
          <a:bodyPr wrap="square">
            <a:spAutoFit/>
          </a:bodyPr>
          <a:lstStyle/>
          <a:p>
            <a:pPr>
              <a:defRPr sz="1400">
                <a:solidFill>
                  <a:srgbClr val="34495E"/>
                </a:solidFill>
              </a:defRPr>
            </a:pPr>
            <a:r>
              <a:t>Noyob tajriba yaratish va kuchli brend orqali premium pozitsiya</a:t>
            </a:r>
          </a:p>
        </p:txBody>
      </p:sp>
      <p:sp>
        <p:nvSpPr>
          <p:cNvPr id="13" name="Rounded Rectangle 12"/>
          <p:cNvSpPr/>
          <p:nvPr/>
        </p:nvSpPr>
        <p:spPr>
          <a:xfrm>
            <a:off x="640080" y="4617720"/>
            <a:ext cx="7863840" cy="1051560"/>
          </a:xfrm>
          <a:prstGeom prst="roundRect">
            <a:avLst/>
          </a:prstGeom>
          <a:solidFill>
            <a:srgbClr val="FFFFFF"/>
          </a:solidFill>
          <a:ln w="508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709159"/>
            <a:ext cx="7315200" cy="320040"/>
          </a:xfrm>
          <a:prstGeom prst="rect">
            <a:avLst/>
          </a:prstGeom>
          <a:noFill/>
        </p:spPr>
        <p:txBody>
          <a:bodyPr wrap="none">
            <a:spAutoFit/>
          </a:bodyPr>
          <a:lstStyle/>
          <a:p>
            <a:pPr>
              <a:defRPr sz="1800" b="1">
                <a:solidFill>
                  <a:srgbClr val="E74C3C"/>
                </a:solidFill>
              </a:defRPr>
            </a:pPr>
            <a:r>
              <a:t>🚗 Toyota</a:t>
            </a:r>
          </a:p>
        </p:txBody>
      </p:sp>
      <p:sp>
        <p:nvSpPr>
          <p:cNvPr id="15" name="TextBox 14"/>
          <p:cNvSpPr txBox="1"/>
          <p:nvPr/>
        </p:nvSpPr>
        <p:spPr>
          <a:xfrm>
            <a:off x="914400" y="5074920"/>
            <a:ext cx="7132320" cy="548640"/>
          </a:xfrm>
          <a:prstGeom prst="rect">
            <a:avLst/>
          </a:prstGeom>
          <a:noFill/>
        </p:spPr>
        <p:txBody>
          <a:bodyPr wrap="square">
            <a:spAutoFit/>
          </a:bodyPr>
          <a:lstStyle/>
          <a:p>
            <a:pPr>
              <a:defRPr sz="1400">
                <a:solidFill>
                  <a:srgbClr val="34495E"/>
                </a:solidFill>
              </a:defRPr>
            </a:pPr>
            <a:r>
              <a:t>Sifat, ishonchlilik va doimiy takomillashtirish falsafasi</a:t>
            </a:r>
          </a:p>
        </p:txBody>
      </p:sp>
      <p:sp>
        <p:nvSpPr>
          <p:cNvPr id="16" name="Rounded Rectangle 15"/>
          <p:cNvSpPr/>
          <p:nvPr/>
        </p:nvSpPr>
        <p:spPr>
          <a:xfrm>
            <a:off x="640080" y="5760720"/>
            <a:ext cx="7863840" cy="1051560"/>
          </a:xfrm>
          <a:prstGeom prst="roundRect">
            <a:avLst/>
          </a:prstGeom>
          <a:solidFill>
            <a:srgbClr val="FFFFFF"/>
          </a:solidFill>
          <a:ln w="5080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852159"/>
            <a:ext cx="7315200" cy="320040"/>
          </a:xfrm>
          <a:prstGeom prst="rect">
            <a:avLst/>
          </a:prstGeom>
          <a:noFill/>
        </p:spPr>
        <p:txBody>
          <a:bodyPr wrap="none">
            <a:spAutoFit/>
          </a:bodyPr>
          <a:lstStyle/>
          <a:p>
            <a:pPr>
              <a:defRPr sz="1800" b="1">
                <a:solidFill>
                  <a:srgbClr val="F1C40F"/>
                </a:solidFill>
              </a:defRPr>
            </a:pPr>
            <a:r>
              <a:t>✈️ Turkish Airlines</a:t>
            </a:r>
          </a:p>
        </p:txBody>
      </p:sp>
      <p:sp>
        <p:nvSpPr>
          <p:cNvPr id="18" name="TextBox 17"/>
          <p:cNvSpPr txBox="1"/>
          <p:nvPr/>
        </p:nvSpPr>
        <p:spPr>
          <a:xfrm>
            <a:off x="914400" y="6217920"/>
            <a:ext cx="7132320" cy="548640"/>
          </a:xfrm>
          <a:prstGeom prst="rect">
            <a:avLst/>
          </a:prstGeom>
          <a:noFill/>
        </p:spPr>
        <p:txBody>
          <a:bodyPr wrap="square">
            <a:spAutoFit/>
          </a:bodyPr>
          <a:lstStyle/>
          <a:p>
            <a:pPr>
              <a:defRPr sz="1400">
                <a:solidFill>
                  <a:srgbClr val="34495E"/>
                </a:solidFill>
              </a:defRPr>
            </a:pPr>
            <a:r>
              <a:t>Xizmat sifati, geografik qamrov va milliy brand orqali o'sish</a:t>
            </a:r>
          </a:p>
        </p:txBody>
      </p:sp>
      <p:sp>
        <p:nvSpPr>
          <p:cNvPr id="19" name="TextBox 18"/>
          <p:cNvSpPr txBox="1"/>
          <p:nvPr/>
        </p:nvSpPr>
        <p:spPr>
          <a:xfrm>
            <a:off x="8046720" y="457200"/>
            <a:ext cx="914400" cy="548640"/>
          </a:xfrm>
          <a:prstGeom prst="rect">
            <a:avLst/>
          </a:prstGeom>
          <a:noFill/>
        </p:spPr>
        <p:txBody>
          <a:bodyPr wrap="none">
            <a:spAutoFit/>
          </a:bodyPr>
          <a:lstStyle/>
          <a:p>
            <a:pPr>
              <a:defRPr sz="3600"/>
            </a:pPr>
            <a: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822960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94360"/>
            <a:ext cx="7315200" cy="548640"/>
          </a:xfrm>
          <a:prstGeom prst="rect">
            <a:avLst/>
          </a:prstGeom>
          <a:noFill/>
        </p:spPr>
        <p:txBody>
          <a:bodyPr wrap="none">
            <a:spAutoFit/>
          </a:bodyPr>
          <a:lstStyle/>
          <a:p>
            <a:pPr algn="ctr">
              <a:defRPr sz="3200" b="1">
                <a:solidFill>
                  <a:srgbClr val="8E44AD"/>
                </a:solidFill>
              </a:defRPr>
            </a:pPr>
            <a:r>
              <a:t>Barqaror raqobat ustunligi</a:t>
            </a:r>
          </a:p>
        </p:txBody>
      </p:sp>
      <p:sp>
        <p:nvSpPr>
          <p:cNvPr id="5" name="Rounded Rectangle 4"/>
          <p:cNvSpPr/>
          <p:nvPr/>
        </p:nvSpPr>
        <p:spPr>
          <a:xfrm>
            <a:off x="731520" y="1645920"/>
            <a:ext cx="768096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28800"/>
            <a:ext cx="6949440" cy="1463040"/>
          </a:xfrm>
          <a:prstGeom prst="rect">
            <a:avLst/>
          </a:prstGeom>
          <a:noFill/>
        </p:spPr>
        <p:txBody>
          <a:bodyPr wrap="square">
            <a:spAutoFit/>
          </a:bodyPr>
          <a:lstStyle/>
          <a:p>
            <a:pPr>
              <a:lnSpc>
                <a:spcPct val="130000"/>
              </a:lnSpc>
              <a:defRPr sz="1800">
                <a:solidFill>
                  <a:srgbClr val="2C3E50"/>
                </a:solidFill>
              </a:defRPr>
            </a:pPr>
            <a:r>
              <a:t>Raqobat ustunligini yaratish - bu faqat birinchi qadam. Muhimi - uni uzoq muddat saqlab qolish. Barqaror ustunlik uchun kompaniya doimiy ravishda o'zgarib, innovatsiyalar kiritib va bozor o'zgarishlariga tez moslashishi kerak.</a:t>
            </a:r>
          </a:p>
        </p:txBody>
      </p:sp>
      <p:sp>
        <p:nvSpPr>
          <p:cNvPr id="7" name="Rounded Rectangle 6"/>
          <p:cNvSpPr/>
          <p:nvPr/>
        </p:nvSpPr>
        <p:spPr>
          <a:xfrm>
            <a:off x="731520" y="3749039"/>
            <a:ext cx="7680960" cy="457200"/>
          </a:xfrm>
          <a:prstGeom prst="roundRect">
            <a:avLst/>
          </a:prstGeom>
          <a:solidFill>
            <a:srgbClr val="F1C4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840480"/>
            <a:ext cx="7315200" cy="274320"/>
          </a:xfrm>
          <a:prstGeom prst="rect">
            <a:avLst/>
          </a:prstGeom>
          <a:noFill/>
        </p:spPr>
        <p:txBody>
          <a:bodyPr wrap="none">
            <a:spAutoFit/>
          </a:bodyPr>
          <a:lstStyle/>
          <a:p>
            <a:pPr>
              <a:defRPr sz="2000" b="1">
                <a:solidFill>
                  <a:srgbClr val="FFFFFF"/>
                </a:solidFill>
              </a:defRPr>
            </a:pPr>
            <a:r>
              <a:t>📚 TUSHUNTIRISH:</a:t>
            </a:r>
          </a:p>
        </p:txBody>
      </p:sp>
      <p:sp>
        <p:nvSpPr>
          <p:cNvPr id="9" name="Rounded Rectangle 8"/>
          <p:cNvSpPr/>
          <p:nvPr/>
        </p:nvSpPr>
        <p:spPr>
          <a:xfrm>
            <a:off x="731520" y="4297680"/>
            <a:ext cx="7680960" cy="1645920"/>
          </a:xfrm>
          <a:prstGeom prst="roundRect">
            <a:avLst/>
          </a:prstGeom>
          <a:solidFill>
            <a:srgbClr val="FFFFFF"/>
          </a:solidFill>
          <a:ln w="38100">
            <a:solidFill>
              <a:srgbClr val="F1C4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480560"/>
            <a:ext cx="6949440" cy="1280160"/>
          </a:xfrm>
          <a:prstGeom prst="rect">
            <a:avLst/>
          </a:prstGeom>
          <a:noFill/>
        </p:spPr>
        <p:txBody>
          <a:bodyPr wrap="square">
            <a:spAutoFit/>
          </a:bodyPr>
          <a:lstStyle/>
          <a:p>
            <a:pPr>
              <a:lnSpc>
                <a:spcPct val="120000"/>
              </a:lnSpc>
              <a:defRPr sz="1600">
                <a:solidFill>
                  <a:srgbClr val="34495E"/>
                </a:solidFill>
              </a:defRPr>
            </a:pPr>
            <a:r>
              <a:t>Barqaror ustunlik uchun: 1) Uzoq muddatli strategik reja, 2) Doimiy innovatsiya, 3) Kuchli tashkiliy madaniyat, 4) Moslashuvchanlik va chaqqonlik, 5) Investitsiya va resurslar boshqaruvi muhim ahamiyatga ega.</a:t>
            </a:r>
          </a:p>
        </p:txBody>
      </p:sp>
      <p:sp>
        <p:nvSpPr>
          <p:cNvPr id="11" name="TextBox 10"/>
          <p:cNvSpPr txBox="1"/>
          <p:nvPr/>
        </p:nvSpPr>
        <p:spPr>
          <a:xfrm>
            <a:off x="7772400" y="1097280"/>
            <a:ext cx="914400" cy="731520"/>
          </a:xfrm>
          <a:prstGeom prst="rect">
            <a:avLst/>
          </a:prstGeom>
          <a:noFill/>
        </p:spPr>
        <p:txBody>
          <a:bodyPr wrap="none">
            <a:spAutoFit/>
          </a:bodyPr>
          <a:lstStyle/>
          <a:p>
            <a:pPr>
              <a:defRPr sz="4800"/>
            </a:pPr>
            <a: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0" y="1371600"/>
            <a:ext cx="1463040" cy="914400"/>
          </a:xfrm>
          <a:prstGeom prst="rect">
            <a:avLst/>
          </a:prstGeom>
          <a:noFill/>
        </p:spPr>
        <p:txBody>
          <a:bodyPr wrap="none">
            <a:spAutoFit/>
          </a:bodyPr>
          <a:lstStyle/>
          <a:p>
            <a:pPr algn="ctr">
              <a:defRPr sz="8000"/>
            </a:pPr>
            <a:r>
              <a:t>🎓</a:t>
            </a:r>
          </a:p>
        </p:txBody>
      </p:sp>
      <p:sp>
        <p:nvSpPr>
          <p:cNvPr id="4" name="TextBox 3"/>
          <p:cNvSpPr txBox="1"/>
          <p:nvPr/>
        </p:nvSpPr>
        <p:spPr>
          <a:xfrm>
            <a:off x="914400" y="2560320"/>
            <a:ext cx="7315200" cy="548640"/>
          </a:xfrm>
          <a:prstGeom prst="rect">
            <a:avLst/>
          </a:prstGeom>
          <a:noFill/>
        </p:spPr>
        <p:txBody>
          <a:bodyPr wrap="none">
            <a:spAutoFit/>
          </a:bodyPr>
          <a:lstStyle/>
          <a:p>
            <a:pPr algn="ctr">
              <a:defRPr sz="4800" b="1">
                <a:solidFill>
                  <a:srgbClr val="FFFFFF"/>
                </a:solidFill>
              </a:defRPr>
            </a:pPr>
            <a:r>
              <a:t>XULOSA</a:t>
            </a:r>
          </a:p>
        </p:txBody>
      </p:sp>
      <p:sp>
        <p:nvSpPr>
          <p:cNvPr id="5" name="Rounded Rectangle 4"/>
          <p:cNvSpPr/>
          <p:nvPr/>
        </p:nvSpPr>
        <p:spPr>
          <a:xfrm>
            <a:off x="914400" y="3383280"/>
            <a:ext cx="7315200" cy="2286000"/>
          </a:xfrm>
          <a:prstGeom prst="roundRect">
            <a:avLst/>
          </a:prstGeom>
          <a:solidFill>
            <a:srgbClr val="FFFFFF"/>
          </a:solidFill>
          <a:ln w="635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657600"/>
            <a:ext cx="6400800" cy="1828800"/>
          </a:xfrm>
          <a:prstGeom prst="rect">
            <a:avLst/>
          </a:prstGeom>
          <a:noFill/>
        </p:spPr>
        <p:txBody>
          <a:bodyPr wrap="square">
            <a:spAutoFit/>
          </a:bodyPr>
          <a:lstStyle/>
          <a:p>
            <a:pPr>
              <a:spcAft>
                <a:spcPts val="800"/>
              </a:spcAft>
              <a:defRPr sz="1800">
                <a:solidFill>
                  <a:srgbClr val="2C3E50"/>
                </a:solidFill>
              </a:defRPr>
            </a:pPr>
            <a:r>
              <a:t>✅ Raqobat ustunligi - biznesning asosi</a:t>
            </a:r>
          </a:p>
          <a:p>
            <a:pPr>
              <a:spcAft>
                <a:spcPts val="800"/>
              </a:spcAft>
              <a:defRPr sz="1800">
                <a:solidFill>
                  <a:srgbClr val="2C3E50"/>
                </a:solidFill>
              </a:defRPr>
            </a:pPr>
          </a:p>
          <a:p>
            <a:pPr>
              <a:spcAft>
                <a:spcPts val="800"/>
              </a:spcAft>
              <a:defRPr sz="1800">
                <a:solidFill>
                  <a:srgbClr val="2C3E50"/>
                </a:solidFill>
              </a:defRPr>
            </a:pPr>
            <a:r>
              <a:t>✅ Strategik yondashuv zarur</a:t>
            </a:r>
          </a:p>
          <a:p>
            <a:pPr>
              <a:spcAft>
                <a:spcPts val="800"/>
              </a:spcAft>
              <a:defRPr sz="1800">
                <a:solidFill>
                  <a:srgbClr val="2C3E50"/>
                </a:solidFill>
              </a:defRPr>
            </a:pPr>
          </a:p>
          <a:p>
            <a:pPr>
              <a:spcAft>
                <a:spcPts val="800"/>
              </a:spcAft>
              <a:defRPr sz="1800">
                <a:solidFill>
                  <a:srgbClr val="2C3E50"/>
                </a:solidFill>
              </a:defRPr>
            </a:pPr>
            <a:r>
              <a:t>✅ Innovatsiya va moslashuvchanlik muhim</a:t>
            </a:r>
          </a:p>
          <a:p>
            <a:pPr>
              <a:spcAft>
                <a:spcPts val="800"/>
              </a:spcAft>
              <a:defRPr sz="1800">
                <a:solidFill>
                  <a:srgbClr val="2C3E50"/>
                </a:solidFill>
              </a:defRPr>
            </a:pPr>
          </a:p>
          <a:p>
            <a:pPr>
              <a:spcAft>
                <a:spcPts val="800"/>
              </a:spcAft>
              <a:defRPr sz="1800">
                <a:solidFill>
                  <a:srgbClr val="2C3E50"/>
                </a:solidFill>
              </a:defRPr>
            </a:pPr>
            <a:r>
              <a:t>✅ Mijozlarga yo'naltirilganlik - muvaffaqiyat kaliti</a:t>
            </a:r>
          </a:p>
          <a:p>
            <a:pPr>
              <a:spcAft>
                <a:spcPts val="800"/>
              </a:spcAft>
              <a:defRPr sz="1800">
                <a:solidFill>
                  <a:srgbClr val="2C3E50"/>
                </a:solidFill>
              </a:defRPr>
            </a:pPr>
          </a:p>
          <a:p>
            <a:pPr>
              <a:spcAft>
                <a:spcPts val="800"/>
              </a:spcAft>
              <a:defRPr sz="1800">
                <a:solidFill>
                  <a:srgbClr val="2C3E50"/>
                </a:solidFill>
              </a:defRPr>
            </a:pPr>
            <a:r>
              <a:t>✅ Doimiy takomillashtirish va rivojlanish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